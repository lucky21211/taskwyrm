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58" y="-6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869680" y="-822960"/>
            <a:ext cx="3840480" cy="3840480"/>
          </a:xfrm>
          <a:prstGeom prst="ellipse">
            <a:avLst/>
          </a:prstGeom>
          <a:solidFill>
            <a:srgbClr val="0B3D2E"/>
          </a:solidFill>
          <a:ln w="12700">
            <a:solidFill>
              <a:srgbClr val="0B3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1097280" y="5212080"/>
            <a:ext cx="3108960" cy="3108960"/>
          </a:xfrm>
          <a:prstGeom prst="ellipse">
            <a:avLst/>
          </a:prstGeom>
          <a:solidFill>
            <a:srgbClr val="082D22"/>
          </a:solidFill>
          <a:ln w="12700">
            <a:solidFill>
              <a:srgbClr val="082D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0" y="1429583"/>
            <a:ext cx="2690545" cy="61555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en-US" sz="4000" b="1" dirty="0" smtClean="0">
                <a:solidFill>
                  <a:srgbClr val="F7F4EA"/>
                </a:solidFill>
                <a:latin typeface="Aptos"/>
              </a:rPr>
              <a:t>Task </a:t>
            </a:r>
            <a:r>
              <a:rPr lang="en-US" sz="4000" b="1" dirty="0" err="1" smtClean="0">
                <a:solidFill>
                  <a:srgbClr val="F7F4EA"/>
                </a:solidFill>
                <a:latin typeface="Aptos"/>
              </a:rPr>
              <a:t>Wyrm</a:t>
            </a:r>
            <a:endParaRPr sz="4000" b="1" dirty="0">
              <a:solidFill>
                <a:srgbClr val="F7F4EA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761488" y="2084831"/>
            <a:ext cx="6400800" cy="8686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400" b="1">
                <a:solidFill>
                  <a:srgbClr val="FFC654"/>
                </a:solidFill>
                <a:latin typeface="Aptos"/>
              </a:rPr>
              <a:t>Вырасти своего дракона.
Вырастить себя.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1488" y="3090672"/>
            <a:ext cx="6858000" cy="411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B2C4BB"/>
                </a:solidFill>
                <a:latin typeface="Aptos"/>
              </a:rPr>
              <a:t>Трекер задач с ИИ и драконьей механикой прогресса</a:t>
            </a:r>
          </a:p>
        </p:txBody>
      </p:sp>
      <p:sp>
        <p:nvSpPr>
          <p:cNvPr id="13" name="Oval 12"/>
          <p:cNvSpPr/>
          <p:nvPr/>
        </p:nvSpPr>
        <p:spPr>
          <a:xfrm>
            <a:off x="960120" y="4681728"/>
            <a:ext cx="347472" cy="347472"/>
          </a:xfrm>
          <a:prstGeom prst="ellipse">
            <a:avLst/>
          </a:prstGeom>
          <a:solidFill>
            <a:srgbClr val="144133"/>
          </a:solidFill>
          <a:ln w="1524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0120" y="4736592"/>
            <a:ext cx="347472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7F4EA"/>
                </a:solidFill>
                <a:latin typeface="Aptos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084064"/>
            <a:ext cx="82296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B2C4BB"/>
                </a:solidFill>
                <a:latin typeface="Aptos"/>
              </a:rPr>
              <a:t>Яйцо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344168" y="4855464"/>
            <a:ext cx="1243584" cy="0"/>
          </a:xfrm>
          <a:prstGeom prst="line">
            <a:avLst/>
          </a:prstGeom>
          <a:ln w="12700">
            <a:solidFill>
              <a:srgbClr val="F5A6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926080" y="4681728"/>
            <a:ext cx="347472" cy="347472"/>
          </a:xfrm>
          <a:prstGeom prst="ellipse">
            <a:avLst/>
          </a:prstGeom>
          <a:solidFill>
            <a:srgbClr val="F5A623"/>
          </a:solidFill>
          <a:ln w="1524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26080" y="4736592"/>
            <a:ext cx="347472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7F4EA"/>
                </a:solidFill>
                <a:latin typeface="Apto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5084064"/>
            <a:ext cx="82296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B2C4BB"/>
                </a:solidFill>
                <a:latin typeface="Aptos"/>
              </a:rPr>
              <a:t>Wyrmling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310128" y="4855464"/>
            <a:ext cx="1243584" cy="0"/>
          </a:xfrm>
          <a:prstGeom prst="line">
            <a:avLst/>
          </a:prstGeom>
          <a:ln w="12700">
            <a:solidFill>
              <a:srgbClr val="F5A6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4892040" y="4681728"/>
            <a:ext cx="347472" cy="347472"/>
          </a:xfrm>
          <a:prstGeom prst="ellipse">
            <a:avLst/>
          </a:prstGeom>
          <a:solidFill>
            <a:srgbClr val="144133"/>
          </a:solidFill>
          <a:ln w="1524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92040" y="4736592"/>
            <a:ext cx="347472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7F4EA"/>
                </a:solidFill>
                <a:latin typeface="Apto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5084064"/>
            <a:ext cx="82296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B2C4BB"/>
                </a:solidFill>
                <a:latin typeface="Aptos"/>
              </a:rPr>
              <a:t>Drake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276088" y="4855464"/>
            <a:ext cx="1243584" cy="0"/>
          </a:xfrm>
          <a:prstGeom prst="line">
            <a:avLst/>
          </a:prstGeom>
          <a:ln w="12700">
            <a:solidFill>
              <a:srgbClr val="F5A6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6857999" y="4681728"/>
            <a:ext cx="347472" cy="347472"/>
          </a:xfrm>
          <a:prstGeom prst="ellipse">
            <a:avLst/>
          </a:prstGeom>
          <a:solidFill>
            <a:srgbClr val="144133"/>
          </a:solidFill>
          <a:ln w="1524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7999" y="4736592"/>
            <a:ext cx="347472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7F4EA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399" y="5084064"/>
            <a:ext cx="82296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B2C4BB"/>
                </a:solidFill>
                <a:latin typeface="Aptos"/>
              </a:rPr>
              <a:t>Wyrm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242047" y="4855464"/>
            <a:ext cx="1243585" cy="0"/>
          </a:xfrm>
          <a:prstGeom prst="line">
            <a:avLst/>
          </a:prstGeom>
          <a:ln w="12700">
            <a:solidFill>
              <a:srgbClr val="F5A6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823960" y="4681728"/>
            <a:ext cx="347472" cy="347472"/>
          </a:xfrm>
          <a:prstGeom prst="ellipse">
            <a:avLst/>
          </a:prstGeom>
          <a:solidFill>
            <a:srgbClr val="144133"/>
          </a:solidFill>
          <a:ln w="1524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23960" y="4736592"/>
            <a:ext cx="347472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7F4EA"/>
                </a:solidFill>
                <a:latin typeface="Apto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0" y="5084064"/>
            <a:ext cx="82296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B2C4BB"/>
                </a:solidFill>
                <a:latin typeface="Aptos"/>
              </a:rPr>
              <a:t>Elder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049536"/>
            <a:ext cx="3281348" cy="153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ru-RU" sz="1000" dirty="0" err="1" smtClean="0">
                <a:solidFill>
                  <a:srgbClr val="B2C4BB"/>
                </a:solidFill>
                <a:latin typeface="Aptos"/>
              </a:rPr>
              <a:t>Никоноров</a:t>
            </a:r>
            <a:r>
              <a:rPr lang="ru-RU" sz="1000" dirty="0" smtClean="0">
                <a:solidFill>
                  <a:srgbClr val="B2C4BB"/>
                </a:solidFill>
                <a:latin typeface="Aptos"/>
              </a:rPr>
              <a:t> Кирилл, Щепелев Кирилл, Смоляков Иван</a:t>
            </a:r>
            <a:r>
              <a:rPr sz="1000" b="0" dirty="0" smtClean="0">
                <a:solidFill>
                  <a:srgbClr val="B2C4BB"/>
                </a:solidFill>
                <a:latin typeface="Aptos"/>
              </a:rPr>
              <a:t> </a:t>
            </a:r>
            <a:endParaRPr sz="1000" b="0" dirty="0">
              <a:solidFill>
                <a:srgbClr val="B2C4BB"/>
              </a:solidFill>
              <a:latin typeface="Aptos"/>
            </a:endParaRPr>
          </a:p>
        </p:txBody>
      </p:sp>
      <p:pic>
        <p:nvPicPr>
          <p:cNvPr id="34" name="Рисунок 3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752" y="883340"/>
            <a:ext cx="2286000" cy="22764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457200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F5A623"/>
                </a:solidFill>
                <a:latin typeface="Aptos"/>
              </a:rPr>
              <a:t>ПОЧЕМУ ЛЮДИ БРОСАЮТ ЗАДАЧИ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5943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F7F4EA"/>
                </a:solidFill>
                <a:latin typeface="Aptos"/>
              </a:rPr>
              <a:t>Проблема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B2C4BB"/>
                </a:solidFill>
                <a:latin typeface="Aptos"/>
              </a:rPr>
              <a:t>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35640" cy="841248"/>
          </a:xfrm>
          <a:prstGeom prst="roundRect">
            <a:avLst>
              <a:gd name="adj" fmla="val 12000"/>
            </a:avLst>
          </a:prstGeom>
          <a:solidFill>
            <a:srgbClr val="0E3026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14400" y="1719072"/>
            <a:ext cx="393192" cy="393192"/>
          </a:xfrm>
          <a:prstGeom prst="ellipse">
            <a:avLst/>
          </a:prstGeom>
          <a:solidFill>
            <a:srgbClr val="E25B5B"/>
          </a:solidFill>
          <a:ln w="12700">
            <a:solidFill>
              <a:srgbClr val="E2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81328" y="1617148"/>
            <a:ext cx="596317" cy="2769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en-US" sz="1800" b="1" dirty="0" smtClean="0">
                <a:solidFill>
                  <a:srgbClr val="F7F4EA"/>
                </a:solidFill>
                <a:latin typeface="Aptos"/>
              </a:rPr>
              <a:t>~</a:t>
            </a:r>
            <a:r>
              <a:rPr sz="1800" b="1" dirty="0" smtClean="0">
                <a:solidFill>
                  <a:srgbClr val="F7F4EA"/>
                </a:solidFill>
                <a:latin typeface="Aptos"/>
              </a:rPr>
              <a:t>6</a:t>
            </a:r>
            <a:r>
              <a:rPr lang="en-US" sz="1800" b="1" dirty="0" smtClean="0">
                <a:solidFill>
                  <a:srgbClr val="F7F4EA"/>
                </a:solidFill>
                <a:latin typeface="Aptos"/>
              </a:rPr>
              <a:t>0</a:t>
            </a:r>
            <a:r>
              <a:rPr sz="1800" b="1" dirty="0" smtClean="0">
                <a:solidFill>
                  <a:srgbClr val="F7F4EA"/>
                </a:solidFill>
                <a:latin typeface="Aptos"/>
              </a:rPr>
              <a:t>%</a:t>
            </a:r>
            <a:endParaRPr sz="1800" b="1" dirty="0">
              <a:solidFill>
                <a:srgbClr val="F7F4EA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716624" y="1632204"/>
            <a:ext cx="8092440" cy="5669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00" b="0" dirty="0" err="1">
                <a:solidFill>
                  <a:srgbClr val="B2C4BB"/>
                </a:solidFill>
                <a:latin typeface="Aptos"/>
              </a:rPr>
              <a:t>пользователей</a:t>
            </a:r>
            <a:r>
              <a:rPr sz="1200" b="0" dirty="0">
                <a:solidFill>
                  <a:srgbClr val="B2C4BB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B2C4BB"/>
                </a:solidFill>
                <a:latin typeface="Aptos"/>
              </a:rPr>
              <a:t>удаляют</a:t>
            </a:r>
            <a:r>
              <a:rPr sz="1200" b="0" dirty="0">
                <a:solidFill>
                  <a:srgbClr val="B2C4BB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B2C4BB"/>
                </a:solidFill>
                <a:latin typeface="Aptos"/>
              </a:rPr>
              <a:t>трекеры</a:t>
            </a:r>
            <a:r>
              <a:rPr sz="1200" b="0" dirty="0">
                <a:solidFill>
                  <a:srgbClr val="B2C4BB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B2C4BB"/>
                </a:solidFill>
                <a:latin typeface="Aptos"/>
              </a:rPr>
              <a:t>задач</a:t>
            </a:r>
            <a:r>
              <a:rPr sz="1200" b="0" dirty="0">
                <a:solidFill>
                  <a:srgbClr val="B2C4BB"/>
                </a:solidFill>
                <a:latin typeface="Aptos"/>
              </a:rPr>
              <a:t> в </a:t>
            </a:r>
            <a:r>
              <a:rPr sz="1200" b="0" dirty="0" err="1">
                <a:solidFill>
                  <a:srgbClr val="B2C4BB"/>
                </a:solidFill>
                <a:latin typeface="Aptos"/>
              </a:rPr>
              <a:t>течение</a:t>
            </a:r>
            <a:r>
              <a:rPr sz="1200" b="0" dirty="0">
                <a:solidFill>
                  <a:srgbClr val="B2C4BB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B2C4BB"/>
                </a:solidFill>
                <a:latin typeface="Aptos"/>
              </a:rPr>
              <a:t>первой</a:t>
            </a:r>
            <a:r>
              <a:rPr sz="1200" b="0" dirty="0">
                <a:solidFill>
                  <a:srgbClr val="B2C4BB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B2C4BB"/>
                </a:solidFill>
                <a:latin typeface="Aptos"/>
              </a:rPr>
              <a:t>недели</a:t>
            </a:r>
            <a:r>
              <a:rPr sz="1200" b="0" dirty="0">
                <a:solidFill>
                  <a:srgbClr val="B2C4BB"/>
                </a:solidFill>
                <a:latin typeface="Aptos"/>
              </a:rPr>
              <a:t>*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532888"/>
            <a:ext cx="10835640" cy="841248"/>
          </a:xfrm>
          <a:prstGeom prst="roundRect">
            <a:avLst>
              <a:gd name="adj" fmla="val 12000"/>
            </a:avLst>
          </a:prstGeom>
          <a:solidFill>
            <a:srgbClr val="0E3026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14400" y="2743200"/>
            <a:ext cx="393192" cy="393192"/>
          </a:xfrm>
          <a:prstGeom prst="ellipse">
            <a:avLst/>
          </a:prstGeom>
          <a:solidFill>
            <a:srgbClr val="E25B5B"/>
          </a:solidFill>
          <a:ln w="12700">
            <a:solidFill>
              <a:srgbClr val="E2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481328" y="2633472"/>
            <a:ext cx="182880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800" b="1">
                <a:solidFill>
                  <a:srgbClr val="F7F4EA"/>
                </a:solidFill>
                <a:latin typeface="Aptos"/>
              </a:rPr>
              <a:t>Прокрастинация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16624" y="2664264"/>
            <a:ext cx="8092440" cy="5669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00" b="0" dirty="0" err="1">
                <a:solidFill>
                  <a:srgbClr val="B2C4BB"/>
                </a:solidFill>
                <a:latin typeface="Aptos"/>
              </a:rPr>
              <a:t>усиливается</a:t>
            </a:r>
            <a:r>
              <a:rPr sz="1200" b="0" dirty="0">
                <a:solidFill>
                  <a:srgbClr val="B2C4BB"/>
                </a:solidFill>
                <a:latin typeface="Aptos"/>
              </a:rPr>
              <a:t>, </a:t>
            </a:r>
            <a:r>
              <a:rPr sz="1200" b="0" dirty="0" err="1">
                <a:solidFill>
                  <a:srgbClr val="B2C4BB"/>
                </a:solidFill>
                <a:latin typeface="Aptos"/>
              </a:rPr>
              <a:t>когда</a:t>
            </a:r>
            <a:r>
              <a:rPr sz="1200" b="0" dirty="0">
                <a:solidFill>
                  <a:srgbClr val="B2C4BB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B2C4BB"/>
                </a:solidFill>
                <a:latin typeface="Aptos"/>
              </a:rPr>
              <a:t>задача</a:t>
            </a:r>
            <a:r>
              <a:rPr sz="1200" b="0" dirty="0">
                <a:solidFill>
                  <a:srgbClr val="B2C4BB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B2C4BB"/>
                </a:solidFill>
                <a:latin typeface="Aptos"/>
              </a:rPr>
              <a:t>не</a:t>
            </a:r>
            <a:r>
              <a:rPr sz="1200" b="0" dirty="0">
                <a:solidFill>
                  <a:srgbClr val="B2C4BB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B2C4BB"/>
                </a:solidFill>
                <a:latin typeface="Aptos"/>
              </a:rPr>
              <a:t>даёт</a:t>
            </a:r>
            <a:r>
              <a:rPr sz="1200" b="0" dirty="0">
                <a:solidFill>
                  <a:srgbClr val="B2C4BB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B2C4BB"/>
                </a:solidFill>
                <a:latin typeface="Aptos"/>
              </a:rPr>
              <a:t>ощущения</a:t>
            </a:r>
            <a:r>
              <a:rPr sz="1200" b="0" dirty="0">
                <a:solidFill>
                  <a:srgbClr val="B2C4BB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B2C4BB"/>
                </a:solidFill>
                <a:latin typeface="Aptos"/>
              </a:rPr>
              <a:t>прогресса</a:t>
            </a:r>
            <a:r>
              <a:rPr sz="1200" b="0" dirty="0">
                <a:solidFill>
                  <a:srgbClr val="B2C4BB"/>
                </a:solidFill>
                <a:latin typeface="Aptos"/>
              </a:rPr>
              <a:t> и </a:t>
            </a:r>
            <a:r>
              <a:rPr sz="1200" b="0" dirty="0" err="1">
                <a:solidFill>
                  <a:srgbClr val="B2C4BB"/>
                </a:solidFill>
                <a:latin typeface="Aptos"/>
              </a:rPr>
              <a:t>награды</a:t>
            </a:r>
            <a:endParaRPr sz="1200" b="0" dirty="0">
              <a:solidFill>
                <a:srgbClr val="B2C4BB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85800" y="3557016"/>
            <a:ext cx="10835640" cy="841248"/>
          </a:xfrm>
          <a:prstGeom prst="roundRect">
            <a:avLst>
              <a:gd name="adj" fmla="val 12000"/>
            </a:avLst>
          </a:prstGeom>
          <a:solidFill>
            <a:srgbClr val="0E3026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14400" y="3767328"/>
            <a:ext cx="393192" cy="393192"/>
          </a:xfrm>
          <a:prstGeom prst="ellipse">
            <a:avLst/>
          </a:prstGeom>
          <a:solidFill>
            <a:srgbClr val="E25B5B"/>
          </a:solidFill>
          <a:ln w="12700">
            <a:solidFill>
              <a:srgbClr val="E2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81328" y="3657600"/>
            <a:ext cx="182880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800" b="1">
                <a:solidFill>
                  <a:srgbClr val="F7F4EA"/>
                </a:solidFill>
                <a:latin typeface="Aptos"/>
              </a:rPr>
              <a:t>Списки без эмоций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16624" y="3689699"/>
            <a:ext cx="8092440" cy="5669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00" b="0" dirty="0" err="1">
                <a:solidFill>
                  <a:srgbClr val="B2C4BB"/>
                </a:solidFill>
                <a:latin typeface="Aptos"/>
              </a:rPr>
              <a:t>существующие</a:t>
            </a:r>
            <a:r>
              <a:rPr sz="1200" b="0" dirty="0">
                <a:solidFill>
                  <a:srgbClr val="B2C4BB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B2C4BB"/>
                </a:solidFill>
                <a:latin typeface="Aptos"/>
              </a:rPr>
              <a:t>трекеры</a:t>
            </a:r>
            <a:r>
              <a:rPr sz="1200" b="0" dirty="0">
                <a:solidFill>
                  <a:srgbClr val="B2C4BB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B2C4BB"/>
                </a:solidFill>
                <a:latin typeface="Aptos"/>
              </a:rPr>
              <a:t>решают</a:t>
            </a:r>
            <a:r>
              <a:rPr sz="1200" b="0" dirty="0">
                <a:solidFill>
                  <a:srgbClr val="B2C4BB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B2C4BB"/>
                </a:solidFill>
                <a:latin typeface="Aptos"/>
              </a:rPr>
              <a:t>учёт</a:t>
            </a:r>
            <a:r>
              <a:rPr sz="1200" b="0" dirty="0">
                <a:solidFill>
                  <a:srgbClr val="B2C4BB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B2C4BB"/>
                </a:solidFill>
                <a:latin typeface="Aptos"/>
              </a:rPr>
              <a:t>задач</a:t>
            </a:r>
            <a:r>
              <a:rPr sz="1200" b="0" dirty="0">
                <a:solidFill>
                  <a:srgbClr val="B2C4BB"/>
                </a:solidFill>
                <a:latin typeface="Aptos"/>
              </a:rPr>
              <a:t>, </a:t>
            </a:r>
            <a:r>
              <a:rPr sz="1200" b="0" dirty="0" err="1">
                <a:solidFill>
                  <a:srgbClr val="B2C4BB"/>
                </a:solidFill>
                <a:latin typeface="Aptos"/>
              </a:rPr>
              <a:t>но</a:t>
            </a:r>
            <a:r>
              <a:rPr sz="1200" b="0" dirty="0">
                <a:solidFill>
                  <a:srgbClr val="B2C4BB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B2C4BB"/>
                </a:solidFill>
                <a:latin typeface="Aptos"/>
              </a:rPr>
              <a:t>не</a:t>
            </a:r>
            <a:r>
              <a:rPr sz="1200" b="0" dirty="0">
                <a:solidFill>
                  <a:srgbClr val="B2C4BB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B2C4BB"/>
                </a:solidFill>
                <a:latin typeface="Aptos"/>
              </a:rPr>
              <a:t>строят</a:t>
            </a:r>
            <a:r>
              <a:rPr sz="1200" b="0" dirty="0">
                <a:solidFill>
                  <a:srgbClr val="B2C4BB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B2C4BB"/>
                </a:solidFill>
                <a:latin typeface="Aptos"/>
              </a:rPr>
              <a:t>игровой</a:t>
            </a:r>
            <a:r>
              <a:rPr sz="1200" b="0" dirty="0">
                <a:solidFill>
                  <a:srgbClr val="B2C4BB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B2C4BB"/>
                </a:solidFill>
                <a:latin typeface="Aptos"/>
              </a:rPr>
              <a:t>контур</a:t>
            </a:r>
            <a:r>
              <a:rPr sz="1200" b="0" dirty="0">
                <a:solidFill>
                  <a:srgbClr val="B2C4BB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B2C4BB"/>
                </a:solidFill>
                <a:latin typeface="Aptos"/>
              </a:rPr>
              <a:t>мотивации</a:t>
            </a:r>
            <a:endParaRPr sz="1200" b="0" dirty="0">
              <a:solidFill>
                <a:srgbClr val="B2C4BB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85800" y="4581144"/>
            <a:ext cx="10835640" cy="841248"/>
          </a:xfrm>
          <a:prstGeom prst="roundRect">
            <a:avLst>
              <a:gd name="adj" fmla="val 12000"/>
            </a:avLst>
          </a:prstGeom>
          <a:solidFill>
            <a:srgbClr val="0E3026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14400" y="4791456"/>
            <a:ext cx="393192" cy="393192"/>
          </a:xfrm>
          <a:prstGeom prst="ellipse">
            <a:avLst/>
          </a:prstGeom>
          <a:solidFill>
            <a:srgbClr val="E25B5B"/>
          </a:solidFill>
          <a:ln w="12700">
            <a:solidFill>
              <a:srgbClr val="E2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481328" y="4681728"/>
            <a:ext cx="182880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800" b="1">
                <a:solidFill>
                  <a:srgbClr val="F7F4EA"/>
                </a:solidFill>
                <a:latin typeface="Aptos"/>
              </a:rPr>
              <a:t>Нет причины вернуться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624" y="4712520"/>
            <a:ext cx="8092440" cy="5669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B2C4BB"/>
                </a:solidFill>
                <a:latin typeface="Aptos"/>
              </a:rPr>
              <a:t>не хватает ежедневного ритуала и видимого развития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5938358"/>
            <a:ext cx="4086055" cy="1384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0" dirty="0">
                <a:solidFill>
                  <a:srgbClr val="F5A623"/>
                </a:solidFill>
                <a:latin typeface="Aptos"/>
              </a:rPr>
              <a:t>*67% — </a:t>
            </a:r>
            <a:r>
              <a:rPr sz="900" b="0" dirty="0" err="1">
                <a:solidFill>
                  <a:srgbClr val="F5A623"/>
                </a:solidFill>
                <a:latin typeface="Aptos"/>
              </a:rPr>
              <a:t>цифра</a:t>
            </a:r>
            <a:r>
              <a:rPr sz="900" b="0" dirty="0">
                <a:solidFill>
                  <a:srgbClr val="F5A623"/>
                </a:solidFill>
                <a:latin typeface="Aptos"/>
              </a:rPr>
              <a:t> </a:t>
            </a:r>
            <a:r>
              <a:rPr sz="900" b="0" dirty="0" err="1">
                <a:solidFill>
                  <a:srgbClr val="F5A623"/>
                </a:solidFill>
                <a:latin typeface="Aptos"/>
              </a:rPr>
              <a:t>из</a:t>
            </a:r>
            <a:r>
              <a:rPr sz="900" b="0" dirty="0">
                <a:solidFill>
                  <a:srgbClr val="F5A623"/>
                </a:solidFill>
                <a:latin typeface="Aptos"/>
              </a:rPr>
              <a:t> </a:t>
            </a:r>
            <a:r>
              <a:rPr sz="900" b="0" dirty="0" err="1">
                <a:solidFill>
                  <a:srgbClr val="F5A623"/>
                </a:solidFill>
                <a:latin typeface="Aptos"/>
              </a:rPr>
              <a:t>исходного</a:t>
            </a:r>
            <a:r>
              <a:rPr sz="900" b="0" dirty="0">
                <a:solidFill>
                  <a:srgbClr val="F5A623"/>
                </a:solidFill>
                <a:latin typeface="Aptos"/>
              </a:rPr>
              <a:t> </a:t>
            </a:r>
            <a:r>
              <a:rPr sz="900" b="0" dirty="0" err="1" smtClean="0">
                <a:solidFill>
                  <a:srgbClr val="F5A623"/>
                </a:solidFill>
                <a:latin typeface="Aptos"/>
              </a:rPr>
              <a:t>концепта</a:t>
            </a:r>
            <a:r>
              <a:rPr lang="ru-RU" sz="900" dirty="0" smtClean="0">
                <a:solidFill>
                  <a:srgbClr val="F5A623"/>
                </a:solidFill>
                <a:latin typeface="Aptos"/>
              </a:rPr>
              <a:t>, </a:t>
            </a:r>
            <a:r>
              <a:rPr lang="ru-RU" sz="900" dirty="0" smtClean="0">
                <a:solidFill>
                  <a:srgbClr val="F5A623"/>
                </a:solidFill>
                <a:latin typeface="Aptos"/>
              </a:rPr>
              <a:t>является приблизительной оценкой</a:t>
            </a:r>
            <a:r>
              <a:rPr sz="900" b="0" dirty="0" smtClean="0">
                <a:solidFill>
                  <a:srgbClr val="F5A623"/>
                </a:solidFill>
                <a:latin typeface="Aptos"/>
              </a:rPr>
              <a:t>.</a:t>
            </a:r>
            <a:endParaRPr sz="900" b="0" dirty="0">
              <a:solidFill>
                <a:srgbClr val="F5A623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94360" y="6540412"/>
            <a:ext cx="1213474" cy="12311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en-US" sz="800" dirty="0" smtClean="0">
                <a:solidFill>
                  <a:srgbClr val="B2C4BB"/>
                </a:solidFill>
                <a:latin typeface="Aptos"/>
              </a:rPr>
              <a:t>Task </a:t>
            </a:r>
            <a:r>
              <a:rPr lang="en-US" sz="800" dirty="0" err="1" smtClean="0">
                <a:solidFill>
                  <a:srgbClr val="B2C4BB"/>
                </a:solidFill>
                <a:latin typeface="Aptos"/>
              </a:rPr>
              <a:t>Wyrm</a:t>
            </a:r>
            <a:r>
              <a:rPr sz="800" b="0" dirty="0" smtClean="0">
                <a:solidFill>
                  <a:srgbClr val="B2C4BB"/>
                </a:solidFill>
                <a:latin typeface="Aptos"/>
              </a:rPr>
              <a:t>  </a:t>
            </a:r>
            <a:r>
              <a:rPr sz="800" b="0" dirty="0">
                <a:solidFill>
                  <a:srgbClr val="B2C4BB"/>
                </a:solidFill>
                <a:latin typeface="Aptos"/>
              </a:rPr>
              <a:t>•  Confidential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457200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F5A623"/>
                </a:solidFill>
                <a:latin typeface="Aptos"/>
              </a:rPr>
              <a:t>WYRMLING ПРЕВРАЩАЕТ РУТИНУ В ПРИКЛЮЧЕНИЕ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5943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F7F4EA"/>
                </a:solidFill>
                <a:latin typeface="Aptos"/>
              </a:rPr>
              <a:t>Решение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B2C4BB"/>
                </a:solidFill>
                <a:latin typeface="Aptos"/>
              </a:rPr>
              <a:t>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246120" cy="1828800"/>
          </a:xfrm>
          <a:prstGeom prst="roundRect">
            <a:avLst>
              <a:gd name="adj" fmla="val 12000"/>
            </a:avLst>
          </a:prstGeom>
          <a:solidFill>
            <a:srgbClr val="0E3026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810512"/>
            <a:ext cx="502920" cy="3200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5A623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212848"/>
            <a:ext cx="2560320" cy="3200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000" b="1">
                <a:solidFill>
                  <a:srgbClr val="F7F4EA"/>
                </a:solidFill>
                <a:latin typeface="Aptos"/>
              </a:rPr>
              <a:t>Задача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70048"/>
            <a:ext cx="2697480" cy="5029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B2C4BB"/>
                </a:solidFill>
                <a:latin typeface="Aptos"/>
              </a:rPr>
              <a:t>Добавили задачу → получили понятную цель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41648" y="2267712"/>
            <a:ext cx="320040" cy="3200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F5A623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1600200"/>
            <a:ext cx="3246120" cy="1828800"/>
          </a:xfrm>
          <a:prstGeom prst="roundRect">
            <a:avLst>
              <a:gd name="adj" fmla="val 12000"/>
            </a:avLst>
          </a:prstGeom>
          <a:solidFill>
            <a:srgbClr val="0E3026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09159" y="1810512"/>
            <a:ext cx="502920" cy="3200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5A623"/>
                </a:solidFill>
                <a:latin typeface="Apto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59" y="2212848"/>
            <a:ext cx="2560320" cy="3200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000" b="1">
                <a:solidFill>
                  <a:srgbClr val="F7F4EA"/>
                </a:solidFill>
                <a:latin typeface="Aptos"/>
              </a:rPr>
              <a:t>Действие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59" y="2670048"/>
            <a:ext cx="2697480" cy="5029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B2C4BB"/>
                </a:solidFill>
                <a:latin typeface="Aptos"/>
              </a:rPr>
              <a:t>Выполнили → получили XP и золото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2267712"/>
            <a:ext cx="320040" cy="3200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F5A623"/>
                </a:solidFill>
                <a:latin typeface="Apto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600200"/>
            <a:ext cx="3246120" cy="1828800"/>
          </a:xfrm>
          <a:prstGeom prst="roundRect">
            <a:avLst>
              <a:gd name="adj" fmla="val 12000"/>
            </a:avLst>
          </a:prstGeom>
          <a:solidFill>
            <a:srgbClr val="0E3026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58200" y="1810512"/>
            <a:ext cx="502920" cy="3200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5A623"/>
                </a:solidFill>
                <a:latin typeface="Apto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212848"/>
            <a:ext cx="2560320" cy="3200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000" b="1">
                <a:solidFill>
                  <a:srgbClr val="F7F4EA"/>
                </a:solidFill>
                <a:latin typeface="Aptos"/>
              </a:rPr>
              <a:t>Рост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752231"/>
            <a:ext cx="2691882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dirty="0" err="1">
                <a:solidFill>
                  <a:srgbClr val="B2C4BB"/>
                </a:solidFill>
                <a:latin typeface="Aptos"/>
              </a:rPr>
              <a:t>Дракон</a:t>
            </a:r>
            <a:r>
              <a:rPr sz="1100" b="0" dirty="0">
                <a:solidFill>
                  <a:srgbClr val="B2C4BB"/>
                </a:solidFill>
                <a:latin typeface="Aptos"/>
              </a:rPr>
              <a:t> </a:t>
            </a:r>
            <a:r>
              <a:rPr sz="1100" b="0" dirty="0" err="1">
                <a:solidFill>
                  <a:srgbClr val="B2C4BB"/>
                </a:solidFill>
                <a:latin typeface="Aptos"/>
              </a:rPr>
              <a:t>развивается</a:t>
            </a:r>
            <a:r>
              <a:rPr sz="1100" b="0" dirty="0">
                <a:solidFill>
                  <a:srgbClr val="B2C4BB"/>
                </a:solidFill>
                <a:latin typeface="Aptos"/>
              </a:rPr>
              <a:t> → </a:t>
            </a:r>
            <a:r>
              <a:rPr sz="1100" b="0" dirty="0" err="1">
                <a:solidFill>
                  <a:srgbClr val="B2C4BB"/>
                </a:solidFill>
                <a:latin typeface="Aptos"/>
              </a:rPr>
              <a:t>появляется</a:t>
            </a:r>
            <a:r>
              <a:rPr sz="1100" b="0" dirty="0">
                <a:solidFill>
                  <a:srgbClr val="B2C4BB"/>
                </a:solidFill>
                <a:latin typeface="Aptos"/>
              </a:rPr>
              <a:t> </a:t>
            </a:r>
            <a:r>
              <a:rPr sz="1100" b="0" dirty="0" err="1">
                <a:solidFill>
                  <a:srgbClr val="B2C4BB"/>
                </a:solidFill>
                <a:latin typeface="Aptos"/>
              </a:rPr>
              <a:t>желание</a:t>
            </a:r>
            <a:r>
              <a:rPr sz="1100" b="0" dirty="0">
                <a:solidFill>
                  <a:srgbClr val="B2C4BB"/>
                </a:solidFill>
                <a:latin typeface="Aptos"/>
              </a:rPr>
              <a:t> </a:t>
            </a:r>
            <a:r>
              <a:rPr sz="1100" b="0" dirty="0" err="1">
                <a:solidFill>
                  <a:srgbClr val="B2C4BB"/>
                </a:solidFill>
                <a:latin typeface="Aptos"/>
              </a:rPr>
              <a:t>вернуться</a:t>
            </a:r>
            <a:endParaRPr sz="1100" b="0" dirty="0">
              <a:solidFill>
                <a:srgbClr val="B2C4BB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31520" y="3886200"/>
            <a:ext cx="2743200" cy="3200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F7F4EA"/>
                </a:solidFill>
                <a:latin typeface="Aptos"/>
              </a:rPr>
              <a:t>5 стадий эволюции</a:t>
            </a:r>
          </a:p>
        </p:txBody>
      </p:sp>
      <p:sp>
        <p:nvSpPr>
          <p:cNvPr id="20" name="Oval 19"/>
          <p:cNvSpPr/>
          <p:nvPr/>
        </p:nvSpPr>
        <p:spPr>
          <a:xfrm>
            <a:off x="868680" y="4480560"/>
            <a:ext cx="658368" cy="658368"/>
          </a:xfrm>
          <a:prstGeom prst="ellipse">
            <a:avLst/>
          </a:prstGeom>
          <a:solidFill>
            <a:srgbClr val="144133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4645152"/>
            <a:ext cx="6583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5A623"/>
                </a:solidFill>
                <a:latin typeface="Aptos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230368"/>
            <a:ext cx="128016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7F4EA"/>
                </a:solidFill>
                <a:latin typeface="Aptos"/>
              </a:rPr>
              <a:t>Яйцо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554480" y="4809744"/>
            <a:ext cx="1371600" cy="0"/>
          </a:xfrm>
          <a:prstGeom prst="line">
            <a:avLst/>
          </a:prstGeom>
          <a:ln w="16510">
            <a:solidFill>
              <a:srgbClr val="F5A6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3063239" y="4480560"/>
            <a:ext cx="658368" cy="658368"/>
          </a:xfrm>
          <a:prstGeom prst="ellipse">
            <a:avLst/>
          </a:prstGeom>
          <a:solidFill>
            <a:srgbClr val="144133"/>
          </a:solidFill>
          <a:ln w="25400"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063239" y="4645152"/>
            <a:ext cx="6583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2C4BB"/>
                </a:solidFill>
                <a:latin typeface="Aptos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199" y="5230368"/>
            <a:ext cx="128016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7F4EA"/>
                </a:solidFill>
                <a:latin typeface="Aptos"/>
              </a:rPr>
              <a:t>Wyrmling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749039" y="4809744"/>
            <a:ext cx="1371601" cy="0"/>
          </a:xfrm>
          <a:prstGeom prst="line">
            <a:avLst/>
          </a:prstGeom>
          <a:ln w="16510">
            <a:solidFill>
              <a:srgbClr val="F5A6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257800" y="4480560"/>
            <a:ext cx="658368" cy="658368"/>
          </a:xfrm>
          <a:prstGeom prst="ellipse">
            <a:avLst/>
          </a:prstGeom>
          <a:solidFill>
            <a:srgbClr val="144133"/>
          </a:solidFill>
          <a:ln w="25400"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257800" y="4645152"/>
            <a:ext cx="6583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2C4BB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0" y="5230368"/>
            <a:ext cx="128016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7F4EA"/>
                </a:solidFill>
                <a:latin typeface="Aptos"/>
              </a:rPr>
              <a:t>Drake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943600" y="4809744"/>
            <a:ext cx="1371600" cy="0"/>
          </a:xfrm>
          <a:prstGeom prst="line">
            <a:avLst/>
          </a:prstGeom>
          <a:ln w="16510">
            <a:solidFill>
              <a:srgbClr val="F5A6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7452359" y="4480560"/>
            <a:ext cx="658368" cy="658368"/>
          </a:xfrm>
          <a:prstGeom prst="ellipse">
            <a:avLst/>
          </a:prstGeom>
          <a:solidFill>
            <a:srgbClr val="144133"/>
          </a:solidFill>
          <a:ln w="25400"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452359" y="4645152"/>
            <a:ext cx="6583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2C4BB"/>
                </a:solidFill>
                <a:latin typeface="Aptos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19" y="5230368"/>
            <a:ext cx="128016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7F4EA"/>
                </a:solidFill>
                <a:latin typeface="Aptos"/>
              </a:rPr>
              <a:t>Wyrm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138159" y="4809744"/>
            <a:ext cx="1371600" cy="0"/>
          </a:xfrm>
          <a:prstGeom prst="line">
            <a:avLst/>
          </a:prstGeom>
          <a:ln w="16510">
            <a:solidFill>
              <a:srgbClr val="F5A6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9646919" y="4480560"/>
            <a:ext cx="658368" cy="658368"/>
          </a:xfrm>
          <a:prstGeom prst="ellipse">
            <a:avLst/>
          </a:prstGeom>
          <a:solidFill>
            <a:srgbClr val="144133"/>
          </a:solidFill>
          <a:ln w="25400"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646919" y="4645152"/>
            <a:ext cx="6583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2C4BB"/>
                </a:solidFill>
                <a:latin typeface="Aptos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0" y="5230368"/>
            <a:ext cx="128016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7F4EA"/>
                </a:solidFill>
                <a:latin typeface="Aptos"/>
              </a:rPr>
              <a:t>Elder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5715000"/>
            <a:ext cx="10698480" cy="475488"/>
          </a:xfrm>
          <a:prstGeom prst="roundRect">
            <a:avLst>
              <a:gd name="adj" fmla="val 12000"/>
            </a:avLst>
          </a:prstGeom>
          <a:solidFill>
            <a:srgbClr val="164939"/>
          </a:solidFill>
          <a:ln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60120" y="5769864"/>
            <a:ext cx="10241280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5A623"/>
                </a:solidFill>
                <a:latin typeface="Aptos"/>
              </a:rPr>
              <a:t>ИИ-помощник  </a:t>
            </a:r>
            <a:r>
              <a:rPr sz="1000" b="0">
                <a:solidFill>
                  <a:srgbClr val="F7F4EA"/>
                </a:solidFill>
                <a:latin typeface="Aptos"/>
              </a:rPr>
              <a:t>адаптирует нагрузку под ритм пользователя и мягко возвращает к работе.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540412"/>
            <a:ext cx="1213474" cy="12311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en-US" sz="800" dirty="0" smtClean="0">
                <a:solidFill>
                  <a:srgbClr val="B2C4BB"/>
                </a:solidFill>
                <a:latin typeface="Aptos"/>
              </a:rPr>
              <a:t>Task </a:t>
            </a:r>
            <a:r>
              <a:rPr lang="en-US" sz="800" dirty="0" err="1" smtClean="0">
                <a:solidFill>
                  <a:srgbClr val="B2C4BB"/>
                </a:solidFill>
                <a:latin typeface="Aptos"/>
              </a:rPr>
              <a:t>Wyrm</a:t>
            </a:r>
            <a:r>
              <a:rPr sz="800" b="0" dirty="0" smtClean="0">
                <a:solidFill>
                  <a:srgbClr val="B2C4BB"/>
                </a:solidFill>
                <a:latin typeface="Aptos"/>
              </a:rPr>
              <a:t>  </a:t>
            </a:r>
            <a:r>
              <a:rPr sz="800" b="0" dirty="0">
                <a:solidFill>
                  <a:srgbClr val="B2C4BB"/>
                </a:solidFill>
                <a:latin typeface="Aptos"/>
              </a:rPr>
              <a:t>•  Confidential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457200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F5A623"/>
                </a:solidFill>
                <a:latin typeface="Aptos"/>
              </a:rPr>
              <a:t>MVP: ИНТЕРФЕЙС УЖЕ МОЖНО ПОКАЗАТЬ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5943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F7F4EA"/>
                </a:solidFill>
                <a:latin typeface="Aptos"/>
              </a:rPr>
              <a:t>Продукт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B2C4BB"/>
                </a:solidFill>
                <a:latin typeface="Aptos"/>
              </a:rPr>
              <a:t>04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98448"/>
            <a:ext cx="3886200" cy="4892040"/>
          </a:xfrm>
          <a:prstGeom prst="roundRect">
            <a:avLst>
              <a:gd name="adj" fmla="val 12000"/>
            </a:avLst>
          </a:prstGeom>
          <a:solidFill>
            <a:srgbClr val="F0F2EF"/>
          </a:solidFill>
          <a:ln>
            <a:solidFill>
              <a:srgbClr val="7891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983480" y="1417320"/>
            <a:ext cx="457200" cy="411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F5A623"/>
                </a:solidFill>
                <a:latin typeface="Aptos"/>
              </a:rPr>
              <a:t>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14173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F7F4EA"/>
                </a:solidFill>
                <a:latin typeface="Aptos"/>
              </a:rPr>
              <a:t>Дракон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3560" y="1764792"/>
            <a:ext cx="5166360" cy="438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B2C4BB"/>
                </a:solidFill>
                <a:latin typeface="Aptos"/>
              </a:rPr>
              <a:t>визуальный якорь прогресса и эволюции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80" y="2496312"/>
            <a:ext cx="457200" cy="411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F5A623"/>
                </a:solidFill>
                <a:latin typeface="Aptos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23560" y="2496312"/>
            <a:ext cx="1828800" cy="3200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F7F4EA"/>
                </a:solidFill>
                <a:latin typeface="Aptos"/>
              </a:rPr>
              <a:t>Задачи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2843784"/>
            <a:ext cx="5166360" cy="438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B2C4BB"/>
                </a:solidFill>
                <a:latin typeface="Aptos"/>
              </a:rPr>
              <a:t>цикл «задача → действие → награда»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3575304"/>
            <a:ext cx="457200" cy="411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F5A623"/>
                </a:solidFill>
                <a:latin typeface="Aptos"/>
              </a:rPr>
              <a:t>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3575304"/>
            <a:ext cx="1828800" cy="3200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F7F4EA"/>
                </a:solidFill>
                <a:latin typeface="Aptos"/>
              </a:rPr>
              <a:t>Прогресс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23560" y="3922776"/>
            <a:ext cx="5166360" cy="438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B2C4BB"/>
                </a:solidFill>
                <a:latin typeface="Aptos"/>
              </a:rPr>
              <a:t>XP, уровень, серия активности и следующая стадия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4654296"/>
            <a:ext cx="457200" cy="411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F5A623"/>
                </a:solidFill>
                <a:latin typeface="Aptos"/>
              </a:rPr>
              <a:t>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23560" y="4654296"/>
            <a:ext cx="1828800" cy="3200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F7F4EA"/>
                </a:solidFill>
                <a:latin typeface="Aptos"/>
              </a:rPr>
              <a:t>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5001768"/>
            <a:ext cx="5166360" cy="438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B2C4BB"/>
                </a:solidFill>
                <a:latin typeface="Aptos"/>
              </a:rPr>
              <a:t>подсказки, адаптация нагрузки и мягкие возвращения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37760" y="5715000"/>
            <a:ext cx="6035040" cy="438912"/>
          </a:xfrm>
          <a:prstGeom prst="roundRect">
            <a:avLst>
              <a:gd name="adj" fmla="val 12000"/>
            </a:avLst>
          </a:prstGeom>
          <a:solidFill>
            <a:srgbClr val="0E3026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138928" y="5837774"/>
            <a:ext cx="2290692" cy="1384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 dirty="0" err="1">
                <a:solidFill>
                  <a:srgbClr val="B2C4BB"/>
                </a:solidFill>
                <a:latin typeface="Aptos"/>
              </a:rPr>
              <a:t>Стек</a:t>
            </a:r>
            <a:r>
              <a:rPr sz="900" b="1" dirty="0">
                <a:solidFill>
                  <a:srgbClr val="B2C4BB"/>
                </a:solidFill>
                <a:latin typeface="Aptos"/>
              </a:rPr>
              <a:t>: Flutter / React Native • AI API • </a:t>
            </a:r>
            <a:r>
              <a:rPr sz="900" b="1" dirty="0" smtClean="0">
                <a:solidFill>
                  <a:srgbClr val="B2C4BB"/>
                </a:solidFill>
                <a:latin typeface="Aptos"/>
              </a:rPr>
              <a:t>local</a:t>
            </a:r>
            <a:endParaRPr sz="900" b="1" dirty="0">
              <a:solidFill>
                <a:srgbClr val="B2C4BB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94360" y="6540412"/>
            <a:ext cx="1213474" cy="12311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en-US" sz="800" dirty="0" smtClean="0">
                <a:solidFill>
                  <a:srgbClr val="B2C4BB"/>
                </a:solidFill>
                <a:latin typeface="Aptos"/>
              </a:rPr>
              <a:t>Task </a:t>
            </a:r>
            <a:r>
              <a:rPr lang="en-US" sz="800" dirty="0" err="1" smtClean="0">
                <a:solidFill>
                  <a:srgbClr val="B2C4BB"/>
                </a:solidFill>
                <a:latin typeface="Aptos"/>
              </a:rPr>
              <a:t>Wyrm</a:t>
            </a:r>
            <a:r>
              <a:rPr sz="800" b="0" dirty="0" smtClean="0">
                <a:solidFill>
                  <a:srgbClr val="B2C4BB"/>
                </a:solidFill>
                <a:latin typeface="Aptos"/>
              </a:rPr>
              <a:t>  </a:t>
            </a:r>
            <a:r>
              <a:rPr sz="800" b="0" dirty="0">
                <a:solidFill>
                  <a:srgbClr val="B2C4BB"/>
                </a:solidFill>
                <a:latin typeface="Aptos"/>
              </a:rPr>
              <a:t>•  Confidential</a:t>
            </a: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3346" y="1401140"/>
            <a:ext cx="2636244" cy="468665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457200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F5A623"/>
                </a:solidFill>
                <a:latin typeface="Aptos"/>
              </a:rPr>
              <a:t>БОЛЬШОЙ РЫНОК ПРОДУКТИВНОСТИ, УЗКИЙ ФОКУС НА МОТИВАЦИИ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5943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F7F4EA"/>
                </a:solidFill>
                <a:latin typeface="Aptos"/>
              </a:rPr>
              <a:t>Рынок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B2C4BB"/>
                </a:solidFill>
                <a:latin typeface="Aptos"/>
              </a:rPr>
              <a:t>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337560" cy="1572768"/>
          </a:xfrm>
          <a:prstGeom prst="roundRect">
            <a:avLst>
              <a:gd name="adj" fmla="val 12000"/>
            </a:avLst>
          </a:prstGeom>
          <a:solidFill>
            <a:srgbClr val="0E3026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1641011"/>
            <a:ext cx="1367362" cy="3847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en-US" sz="2500" b="1" dirty="0" smtClean="0">
                <a:solidFill>
                  <a:srgbClr val="FFC654"/>
                </a:solidFill>
                <a:latin typeface="Aptos"/>
              </a:rPr>
              <a:t>45</a:t>
            </a:r>
            <a:r>
              <a:rPr lang="ru-RU" sz="2500" b="1" dirty="0" smtClean="0">
                <a:solidFill>
                  <a:srgbClr val="FFC654"/>
                </a:solidFill>
                <a:latin typeface="Aptos"/>
              </a:rPr>
              <a:t> млрд.</a:t>
            </a:r>
            <a:endParaRPr sz="2500" b="1" dirty="0">
              <a:solidFill>
                <a:srgbClr val="FFC654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86968" y="2057400"/>
            <a:ext cx="283464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7F4EA"/>
                </a:solidFill>
                <a:latin typeface="Aptos"/>
              </a:rPr>
              <a:t>TAM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395728"/>
            <a:ext cx="2834640" cy="3840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0">
                <a:solidFill>
                  <a:srgbClr val="B2C4BB"/>
                </a:solidFill>
                <a:latin typeface="Aptos"/>
              </a:rPr>
              <a:t>глобальный рынок productivity apps*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572768"/>
          </a:xfrm>
          <a:prstGeom prst="roundRect">
            <a:avLst>
              <a:gd name="adj" fmla="val 12000"/>
            </a:avLst>
          </a:prstGeom>
          <a:solidFill>
            <a:srgbClr val="0E3026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36007" y="1641011"/>
            <a:ext cx="1367362" cy="3847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ru-RU" sz="2500" b="1" dirty="0" smtClean="0">
                <a:solidFill>
                  <a:srgbClr val="FFC654"/>
                </a:solidFill>
                <a:latin typeface="Aptos"/>
              </a:rPr>
              <a:t>22 млрд.</a:t>
            </a:r>
            <a:endParaRPr sz="2500" b="1" dirty="0">
              <a:solidFill>
                <a:srgbClr val="FFC654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636007" y="2057400"/>
            <a:ext cx="283464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7F4EA"/>
                </a:solidFill>
                <a:latin typeface="Aptos"/>
              </a:rPr>
              <a:t>SAM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7" y="2510640"/>
            <a:ext cx="2921789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dirty="0" err="1">
                <a:solidFill>
                  <a:srgbClr val="B2C4BB"/>
                </a:solidFill>
                <a:latin typeface="Aptos"/>
              </a:rPr>
              <a:t>русскоязычный</a:t>
            </a:r>
            <a:r>
              <a:rPr sz="900" b="0" dirty="0">
                <a:solidFill>
                  <a:srgbClr val="B2C4BB"/>
                </a:solidFill>
                <a:latin typeface="Aptos"/>
              </a:rPr>
              <a:t> </a:t>
            </a:r>
            <a:r>
              <a:rPr sz="900" b="0" dirty="0" err="1">
                <a:solidFill>
                  <a:srgbClr val="B2C4BB"/>
                </a:solidFill>
                <a:latin typeface="Aptos"/>
              </a:rPr>
              <a:t>сегмент</a:t>
            </a:r>
            <a:r>
              <a:rPr sz="900" b="0" dirty="0">
                <a:solidFill>
                  <a:srgbClr val="B2C4BB"/>
                </a:solidFill>
                <a:latin typeface="Aptos"/>
              </a:rPr>
              <a:t> + </a:t>
            </a:r>
            <a:r>
              <a:rPr sz="900" b="0" dirty="0" smtClean="0">
                <a:solidFill>
                  <a:srgbClr val="B2C4BB"/>
                </a:solidFill>
                <a:latin typeface="Aptos"/>
              </a:rPr>
              <a:t>СНГ</a:t>
            </a:r>
            <a:r>
              <a:rPr lang="ru-RU" sz="900" b="0" dirty="0" smtClean="0">
                <a:solidFill>
                  <a:srgbClr val="B2C4BB"/>
                </a:solidFill>
                <a:latin typeface="Aptos"/>
              </a:rPr>
              <a:t> (весь рынок платформ для планирования задач)</a:t>
            </a:r>
            <a:endParaRPr sz="900" b="0" dirty="0">
              <a:solidFill>
                <a:srgbClr val="B2C4BB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183879" y="1417320"/>
            <a:ext cx="3337560" cy="1572768"/>
          </a:xfrm>
          <a:prstGeom prst="roundRect">
            <a:avLst>
              <a:gd name="adj" fmla="val 12000"/>
            </a:avLst>
          </a:prstGeom>
          <a:solidFill>
            <a:srgbClr val="0E3026"/>
          </a:solidFill>
          <a:ln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85048" y="1641011"/>
            <a:ext cx="1348126" cy="3847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ru-RU" sz="2500" b="1" dirty="0" smtClean="0">
                <a:solidFill>
                  <a:srgbClr val="FFC654"/>
                </a:solidFill>
                <a:latin typeface="Aptos"/>
              </a:rPr>
              <a:t>243 млн.</a:t>
            </a:r>
            <a:endParaRPr sz="2500" b="1" dirty="0">
              <a:solidFill>
                <a:srgbClr val="FFC654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385048" y="2057400"/>
            <a:ext cx="283464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7F4EA"/>
                </a:solidFill>
                <a:latin typeface="Aptos"/>
              </a:rPr>
              <a:t>SOM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5048" y="2395728"/>
            <a:ext cx="2834640" cy="3840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0">
                <a:solidFill>
                  <a:srgbClr val="B2C4BB"/>
                </a:solidFill>
                <a:latin typeface="Aptos"/>
              </a:rPr>
              <a:t>цель из концепта: 1% SAM за 3 года*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401568"/>
            <a:ext cx="2743200" cy="3200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F7F4EA"/>
                </a:solidFill>
                <a:latin typeface="Aptos"/>
              </a:rPr>
              <a:t>Целевая аудитория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886200"/>
            <a:ext cx="274320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B2C4BB"/>
                </a:solidFill>
                <a:latin typeface="Aptos"/>
              </a:rPr>
              <a:t>Студенты 18–25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29000" y="3904487"/>
            <a:ext cx="5852160" cy="201168"/>
          </a:xfrm>
          <a:prstGeom prst="roundRect">
            <a:avLst>
              <a:gd name="adj" fmla="val 12000"/>
            </a:avLst>
          </a:prstGeom>
          <a:solidFill>
            <a:srgbClr val="1C3D32"/>
          </a:solidFill>
          <a:ln>
            <a:solidFill>
              <a:srgbClr val="1C3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3429000" y="3904487"/>
            <a:ext cx="5852160" cy="201168"/>
          </a:xfrm>
          <a:prstGeom prst="roundRect">
            <a:avLst>
              <a:gd name="adj" fmla="val 12000"/>
            </a:avLst>
          </a:prstGeom>
          <a:solidFill>
            <a:srgbClr val="F5A623"/>
          </a:solidFill>
          <a:ln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555480" y="3867912"/>
            <a:ext cx="64008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F7F4EA"/>
                </a:solidFill>
                <a:latin typeface="Aptos"/>
              </a:rPr>
              <a:t>40%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498848"/>
            <a:ext cx="274320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B2C4BB"/>
                </a:solidFill>
                <a:latin typeface="Aptos"/>
              </a:rPr>
              <a:t>Фрилансеры 25–35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29000" y="4517136"/>
            <a:ext cx="5852160" cy="201168"/>
          </a:xfrm>
          <a:prstGeom prst="roundRect">
            <a:avLst>
              <a:gd name="adj" fmla="val 12000"/>
            </a:avLst>
          </a:prstGeom>
          <a:solidFill>
            <a:srgbClr val="1C3D32"/>
          </a:solidFill>
          <a:ln>
            <a:solidFill>
              <a:srgbClr val="1C3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3429000" y="4517136"/>
            <a:ext cx="5120640" cy="201168"/>
          </a:xfrm>
          <a:prstGeom prst="roundRect">
            <a:avLst>
              <a:gd name="adj" fmla="val 12000"/>
            </a:avLst>
          </a:prstGeom>
          <a:solidFill>
            <a:srgbClr val="239167"/>
          </a:solidFill>
          <a:ln>
            <a:solidFill>
              <a:srgbClr val="2391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555480" y="4480560"/>
            <a:ext cx="64008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F7F4EA"/>
                </a:solidFill>
                <a:latin typeface="Aptos"/>
              </a:rPr>
              <a:t>35%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11496"/>
            <a:ext cx="274320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B2C4BB"/>
                </a:solidFill>
                <a:latin typeface="Aptos"/>
              </a:rPr>
              <a:t>Молодые специалисты 22–30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29000" y="5129783"/>
            <a:ext cx="5852160" cy="201168"/>
          </a:xfrm>
          <a:prstGeom prst="roundRect">
            <a:avLst>
              <a:gd name="adj" fmla="val 12000"/>
            </a:avLst>
          </a:prstGeom>
          <a:solidFill>
            <a:srgbClr val="1C3D32"/>
          </a:solidFill>
          <a:ln>
            <a:solidFill>
              <a:srgbClr val="1C3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3429000" y="5129783"/>
            <a:ext cx="3657600" cy="201168"/>
          </a:xfrm>
          <a:prstGeom prst="roundRect">
            <a:avLst>
              <a:gd name="adj" fmla="val 12000"/>
            </a:avLst>
          </a:prstGeom>
          <a:solidFill>
            <a:srgbClr val="239167"/>
          </a:solidFill>
          <a:ln>
            <a:solidFill>
              <a:srgbClr val="2391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555480" y="5093208"/>
            <a:ext cx="64008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F7F4EA"/>
                </a:solidFill>
                <a:latin typeface="Aptos"/>
              </a:rPr>
              <a:t>25%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540412"/>
            <a:ext cx="1213474" cy="12311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en-US" sz="800" dirty="0" smtClean="0">
                <a:solidFill>
                  <a:srgbClr val="B2C4BB"/>
                </a:solidFill>
                <a:latin typeface="Aptos"/>
              </a:rPr>
              <a:t>Task </a:t>
            </a:r>
            <a:r>
              <a:rPr lang="en-US" sz="800" dirty="0" err="1" smtClean="0">
                <a:solidFill>
                  <a:srgbClr val="B2C4BB"/>
                </a:solidFill>
                <a:latin typeface="Aptos"/>
              </a:rPr>
              <a:t>Wyrm</a:t>
            </a:r>
            <a:r>
              <a:rPr sz="800" b="0" dirty="0" smtClean="0">
                <a:solidFill>
                  <a:srgbClr val="B2C4BB"/>
                </a:solidFill>
                <a:latin typeface="Aptos"/>
              </a:rPr>
              <a:t>  </a:t>
            </a:r>
            <a:r>
              <a:rPr sz="800" b="0" dirty="0">
                <a:solidFill>
                  <a:srgbClr val="B2C4BB"/>
                </a:solidFill>
                <a:latin typeface="Aptos"/>
              </a:rPr>
              <a:t>•  Confidential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457200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F5A623"/>
                </a:solidFill>
                <a:latin typeface="Aptos"/>
              </a:rPr>
              <a:t>НЕ ЕЩЁ ОДИН СПИСОК ЗАДАЧ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5943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F7F4EA"/>
                </a:solidFill>
                <a:latin typeface="Aptos"/>
              </a:rPr>
              <a:t>Конкуренты и отличие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B2C4BB"/>
                </a:solidFill>
                <a:latin typeface="Aptos"/>
              </a:rPr>
              <a:t>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2743200" cy="502920"/>
          </a:xfrm>
          <a:prstGeom prst="roundRect">
            <a:avLst>
              <a:gd name="adj" fmla="val 12000"/>
            </a:avLst>
          </a:prstGeom>
          <a:solidFill>
            <a:srgbClr val="126A4E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389888"/>
            <a:ext cx="2651760" cy="3200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7F4EA"/>
                </a:solidFill>
                <a:latin typeface="Aptos"/>
              </a:rPr>
              <a:t>Критерий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8144" y="132588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126A4E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83863" y="1389888"/>
            <a:ext cx="1737360" cy="3200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7F4EA"/>
                </a:solidFill>
                <a:latin typeface="Aptos"/>
              </a:rPr>
              <a:t>Todoist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21808" y="132588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126A4E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67528" y="1389888"/>
            <a:ext cx="1737360" cy="3200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7F4EA"/>
                </a:solidFill>
                <a:latin typeface="Aptos"/>
              </a:rPr>
              <a:t>TickTick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5472" y="132588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126A4E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251192" y="1389888"/>
            <a:ext cx="1737360" cy="3200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7F4EA"/>
                </a:solidFill>
                <a:latin typeface="Aptos"/>
              </a:rPr>
              <a:t>Notion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89136" y="1325880"/>
            <a:ext cx="2286000" cy="502920"/>
          </a:xfrm>
          <a:prstGeom prst="roundRect">
            <a:avLst>
              <a:gd name="adj" fmla="val 12000"/>
            </a:avLst>
          </a:prstGeom>
          <a:solidFill>
            <a:srgbClr val="126A4E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891498" y="1472964"/>
            <a:ext cx="681277" cy="153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1000" b="1" dirty="0" smtClean="0">
                <a:solidFill>
                  <a:srgbClr val="F7F4EA"/>
                </a:solidFill>
                <a:latin typeface="Aptos"/>
              </a:rPr>
              <a:t>Task </a:t>
            </a:r>
            <a:r>
              <a:rPr lang="en-US" sz="1000" b="1" dirty="0" err="1" smtClean="0">
                <a:solidFill>
                  <a:srgbClr val="F7F4EA"/>
                </a:solidFill>
                <a:latin typeface="Aptos"/>
              </a:rPr>
              <a:t>Wyrm</a:t>
            </a:r>
            <a:endParaRPr sz="1000" b="1" dirty="0">
              <a:solidFill>
                <a:srgbClr val="F7F4EA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40080" y="1901952"/>
            <a:ext cx="2743200" cy="484632"/>
          </a:xfrm>
          <a:prstGeom prst="roundRect">
            <a:avLst>
              <a:gd name="adj" fmla="val 12000"/>
            </a:avLst>
          </a:prstGeom>
          <a:solidFill>
            <a:srgbClr val="0E3026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76656" y="1984248"/>
            <a:ext cx="2670048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7F4EA"/>
                </a:solidFill>
                <a:latin typeface="Aptos"/>
              </a:rPr>
              <a:t>Геймификация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38144" y="1901952"/>
            <a:ext cx="1828800" cy="484632"/>
          </a:xfrm>
          <a:prstGeom prst="roundRect">
            <a:avLst>
              <a:gd name="adj" fmla="val 12000"/>
            </a:avLst>
          </a:prstGeom>
          <a:solidFill>
            <a:srgbClr val="0E3026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0" y="1984248"/>
            <a:ext cx="1755648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B2C4BB"/>
                </a:solidFill>
                <a:latin typeface="Aptos"/>
              </a:rPr>
              <a:t>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21808" y="1901952"/>
            <a:ext cx="1828800" cy="484632"/>
          </a:xfrm>
          <a:prstGeom prst="roundRect">
            <a:avLst>
              <a:gd name="adj" fmla="val 12000"/>
            </a:avLst>
          </a:prstGeom>
          <a:solidFill>
            <a:srgbClr val="0E3026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58384" y="1984248"/>
            <a:ext cx="1755648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B2C4BB"/>
                </a:solidFill>
                <a:latin typeface="Aptos"/>
              </a:rPr>
              <a:t>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5472" y="1901952"/>
            <a:ext cx="1828800" cy="484632"/>
          </a:xfrm>
          <a:prstGeom prst="roundRect">
            <a:avLst>
              <a:gd name="adj" fmla="val 12000"/>
            </a:avLst>
          </a:prstGeom>
          <a:solidFill>
            <a:srgbClr val="0E3026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42048" y="1984248"/>
            <a:ext cx="1755648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B2C4BB"/>
                </a:solidFill>
                <a:latin typeface="Aptos"/>
              </a:rPr>
              <a:t>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89136" y="1901952"/>
            <a:ext cx="2286000" cy="484632"/>
          </a:xfrm>
          <a:prstGeom prst="roundRect">
            <a:avLst>
              <a:gd name="adj" fmla="val 12000"/>
            </a:avLst>
          </a:prstGeom>
          <a:solidFill>
            <a:srgbClr val="144133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25712" y="1984248"/>
            <a:ext cx="2212848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FC654"/>
                </a:solidFill>
                <a:latin typeface="Aptos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2487168"/>
            <a:ext cx="2743200" cy="484632"/>
          </a:xfrm>
          <a:prstGeom prst="roundRect">
            <a:avLst>
              <a:gd name="adj" fmla="val 12000"/>
            </a:avLst>
          </a:prstGeom>
          <a:solidFill>
            <a:srgbClr val="0E3026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76656" y="2569464"/>
            <a:ext cx="2670048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7F4EA"/>
                </a:solidFill>
                <a:latin typeface="Aptos"/>
              </a:rPr>
              <a:t>Маскот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38144" y="2487168"/>
            <a:ext cx="1828800" cy="484632"/>
          </a:xfrm>
          <a:prstGeom prst="roundRect">
            <a:avLst>
              <a:gd name="adj" fmla="val 12000"/>
            </a:avLst>
          </a:prstGeom>
          <a:solidFill>
            <a:srgbClr val="0E3026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474720" y="2569464"/>
            <a:ext cx="1755648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B2C4BB"/>
                </a:solidFill>
                <a:latin typeface="Aptos"/>
              </a:rPr>
              <a:t>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21808" y="2487168"/>
            <a:ext cx="1828800" cy="484632"/>
          </a:xfrm>
          <a:prstGeom prst="roundRect">
            <a:avLst>
              <a:gd name="adj" fmla="val 12000"/>
            </a:avLst>
          </a:prstGeom>
          <a:solidFill>
            <a:srgbClr val="0E3026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358384" y="2569464"/>
            <a:ext cx="1755648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B2C4BB"/>
                </a:solidFill>
                <a:latin typeface="Aptos"/>
              </a:rPr>
              <a:t>—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05472" y="2487168"/>
            <a:ext cx="1828800" cy="484632"/>
          </a:xfrm>
          <a:prstGeom prst="roundRect">
            <a:avLst>
              <a:gd name="adj" fmla="val 12000"/>
            </a:avLst>
          </a:prstGeom>
          <a:solidFill>
            <a:srgbClr val="0E3026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242048" y="2569464"/>
            <a:ext cx="1755648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B2C4BB"/>
                </a:solidFill>
                <a:latin typeface="Aptos"/>
              </a:rPr>
              <a:t>—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89136" y="2487168"/>
            <a:ext cx="2286000" cy="484632"/>
          </a:xfrm>
          <a:prstGeom prst="roundRect">
            <a:avLst>
              <a:gd name="adj" fmla="val 12000"/>
            </a:avLst>
          </a:prstGeom>
          <a:solidFill>
            <a:srgbClr val="144133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125712" y="2569464"/>
            <a:ext cx="2212848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FC654"/>
                </a:solidFill>
                <a:latin typeface="Aptos"/>
              </a:rPr>
              <a:t>✓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3072384"/>
            <a:ext cx="2743200" cy="484632"/>
          </a:xfrm>
          <a:prstGeom prst="roundRect">
            <a:avLst>
              <a:gd name="adj" fmla="val 12000"/>
            </a:avLst>
          </a:prstGeom>
          <a:solidFill>
            <a:srgbClr val="0E3026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76656" y="3154680"/>
            <a:ext cx="2670048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7F4EA"/>
                </a:solidFill>
                <a:latin typeface="Aptos"/>
              </a:rPr>
              <a:t>ИИ-помощник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38144" y="3072384"/>
            <a:ext cx="1828800" cy="484632"/>
          </a:xfrm>
          <a:prstGeom prst="roundRect">
            <a:avLst>
              <a:gd name="adj" fmla="val 12000"/>
            </a:avLst>
          </a:prstGeom>
          <a:solidFill>
            <a:srgbClr val="0E3026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474720" y="3154680"/>
            <a:ext cx="1755648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B2C4BB"/>
                </a:solidFill>
                <a:latin typeface="Aptos"/>
              </a:rPr>
              <a:t>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321808" y="3072384"/>
            <a:ext cx="1828800" cy="484632"/>
          </a:xfrm>
          <a:prstGeom prst="roundRect">
            <a:avLst>
              <a:gd name="adj" fmla="val 12000"/>
            </a:avLst>
          </a:prstGeom>
          <a:solidFill>
            <a:srgbClr val="0E3026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358384" y="3154680"/>
            <a:ext cx="1755648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B2C4BB"/>
                </a:solidFill>
                <a:latin typeface="Aptos"/>
              </a:rPr>
              <a:t>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205472" y="3072384"/>
            <a:ext cx="1828800" cy="484632"/>
          </a:xfrm>
          <a:prstGeom prst="roundRect">
            <a:avLst>
              <a:gd name="adj" fmla="val 12000"/>
            </a:avLst>
          </a:prstGeom>
          <a:solidFill>
            <a:srgbClr val="0E3026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242048" y="3154680"/>
            <a:ext cx="1755648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B2C4BB"/>
                </a:solidFill>
                <a:latin typeface="Aptos"/>
              </a:rPr>
              <a:t>±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89136" y="3072384"/>
            <a:ext cx="2286000" cy="484632"/>
          </a:xfrm>
          <a:prstGeom prst="roundRect">
            <a:avLst>
              <a:gd name="adj" fmla="val 12000"/>
            </a:avLst>
          </a:prstGeom>
          <a:solidFill>
            <a:srgbClr val="144133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125712" y="3154680"/>
            <a:ext cx="2212848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FC654"/>
                </a:solidFill>
                <a:latin typeface="Aptos"/>
              </a:rPr>
              <a:t>✓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0080" y="3657600"/>
            <a:ext cx="2743200" cy="484632"/>
          </a:xfrm>
          <a:prstGeom prst="roundRect">
            <a:avLst>
              <a:gd name="adj" fmla="val 12000"/>
            </a:avLst>
          </a:prstGeom>
          <a:solidFill>
            <a:srgbClr val="0E3026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76656" y="3739896"/>
            <a:ext cx="2670048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7F4EA"/>
                </a:solidFill>
                <a:latin typeface="Aptos"/>
              </a:rPr>
              <a:t>Эволюция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38144" y="3657600"/>
            <a:ext cx="1828800" cy="484632"/>
          </a:xfrm>
          <a:prstGeom prst="roundRect">
            <a:avLst>
              <a:gd name="adj" fmla="val 12000"/>
            </a:avLst>
          </a:prstGeom>
          <a:solidFill>
            <a:srgbClr val="0E3026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474720" y="3739896"/>
            <a:ext cx="1755648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B2C4BB"/>
                </a:solidFill>
                <a:latin typeface="Aptos"/>
              </a:rPr>
              <a:t>—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321808" y="3657600"/>
            <a:ext cx="1828800" cy="484632"/>
          </a:xfrm>
          <a:prstGeom prst="roundRect">
            <a:avLst>
              <a:gd name="adj" fmla="val 12000"/>
            </a:avLst>
          </a:prstGeom>
          <a:solidFill>
            <a:srgbClr val="0E3026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358384" y="3739896"/>
            <a:ext cx="1755648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B2C4BB"/>
                </a:solidFill>
                <a:latin typeface="Aptos"/>
              </a:rPr>
              <a:t>—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205472" y="3657600"/>
            <a:ext cx="1828800" cy="484632"/>
          </a:xfrm>
          <a:prstGeom prst="roundRect">
            <a:avLst>
              <a:gd name="adj" fmla="val 12000"/>
            </a:avLst>
          </a:prstGeom>
          <a:solidFill>
            <a:srgbClr val="0E3026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242048" y="3739896"/>
            <a:ext cx="1755648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B2C4BB"/>
                </a:solidFill>
                <a:latin typeface="Aptos"/>
              </a:rPr>
              <a:t>—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089136" y="3657600"/>
            <a:ext cx="2286000" cy="484632"/>
          </a:xfrm>
          <a:prstGeom prst="roundRect">
            <a:avLst>
              <a:gd name="adj" fmla="val 12000"/>
            </a:avLst>
          </a:prstGeom>
          <a:solidFill>
            <a:srgbClr val="144133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125712" y="3739896"/>
            <a:ext cx="2212848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FC654"/>
                </a:solidFill>
                <a:latin typeface="Aptos"/>
              </a:rPr>
              <a:t>✓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58368" y="5074920"/>
            <a:ext cx="10835640" cy="822960"/>
          </a:xfrm>
          <a:prstGeom prst="roundRect">
            <a:avLst>
              <a:gd name="adj" fmla="val 12000"/>
            </a:avLst>
          </a:prstGeom>
          <a:solidFill>
            <a:srgbClr val="134736"/>
          </a:solidFill>
          <a:ln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14400" y="5193792"/>
            <a:ext cx="164592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5A623"/>
                </a:solidFill>
                <a:latin typeface="Aptos"/>
              </a:rPr>
              <a:t>Наше отличие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423160" y="5138928"/>
            <a:ext cx="8641080" cy="438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F7F4EA"/>
                </a:solidFill>
                <a:latin typeface="Aptos"/>
              </a:rPr>
              <a:t>Дракон — не декор: он является частью прогрессии, награды и причины возвращаться.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13232" y="6053328"/>
            <a:ext cx="1069848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B2C4BB"/>
                </a:solidFill>
                <a:latin typeface="Aptos"/>
              </a:rPr>
              <a:t>Сравнение — позиционирование из концепта; функции конкурентов следует перепроверить перед публичным использованием.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94360" y="6540412"/>
            <a:ext cx="1213474" cy="12311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en-US" sz="800" dirty="0" smtClean="0">
                <a:solidFill>
                  <a:srgbClr val="B2C4BB"/>
                </a:solidFill>
                <a:latin typeface="Aptos"/>
              </a:rPr>
              <a:t>Task </a:t>
            </a:r>
            <a:r>
              <a:rPr lang="en-US" sz="800" dirty="0" err="1" smtClean="0">
                <a:solidFill>
                  <a:srgbClr val="B2C4BB"/>
                </a:solidFill>
                <a:latin typeface="Aptos"/>
              </a:rPr>
              <a:t>Wyrm</a:t>
            </a:r>
            <a:r>
              <a:rPr sz="800" b="0" dirty="0" smtClean="0">
                <a:solidFill>
                  <a:srgbClr val="B2C4BB"/>
                </a:solidFill>
                <a:latin typeface="Aptos"/>
              </a:rPr>
              <a:t>  </a:t>
            </a:r>
            <a:r>
              <a:rPr sz="800" b="0" dirty="0">
                <a:solidFill>
                  <a:srgbClr val="B2C4BB"/>
                </a:solidFill>
                <a:latin typeface="Aptos"/>
              </a:rPr>
              <a:t>•  Confidential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457200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F5A623"/>
                </a:solidFill>
                <a:latin typeface="Aptos"/>
              </a:rPr>
              <a:t>FREEMIUM + ПОДПИСКА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5943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F7F4EA"/>
                </a:solidFill>
                <a:latin typeface="Aptos"/>
              </a:rPr>
              <a:t>Бизнес-модель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B2C4BB"/>
                </a:solidFill>
                <a:latin typeface="Aptos"/>
              </a:rPr>
              <a:t>07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5166360" cy="3429000"/>
          </a:xfrm>
          <a:prstGeom prst="roundRect">
            <a:avLst>
              <a:gd name="adj" fmla="val 12000"/>
            </a:avLst>
          </a:prstGeom>
          <a:solidFill>
            <a:srgbClr val="0E3026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691640"/>
            <a:ext cx="1371600" cy="3200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B2C4BB"/>
                </a:solidFill>
                <a:latin typeface="Aptos"/>
              </a:rPr>
              <a:t>FREE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2286000" cy="4572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F7F4EA"/>
                </a:solidFill>
                <a:latin typeface="Aptos"/>
              </a:rPr>
              <a:t>0 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761488"/>
            <a:ext cx="27432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239167"/>
                </a:solidFill>
                <a:latin typeface="Aptos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724912"/>
            <a:ext cx="388620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B2C4BB"/>
                </a:solidFill>
                <a:latin typeface="Aptos"/>
              </a:rPr>
              <a:t>Базовый трекер задач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200400"/>
            <a:ext cx="27432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239167"/>
                </a:solidFill>
                <a:latin typeface="Aptos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3163824"/>
            <a:ext cx="388620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B2C4BB"/>
                </a:solidFill>
                <a:latin typeface="Aptos"/>
              </a:rPr>
              <a:t>Дракон до стадии Drake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639312"/>
            <a:ext cx="27432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239167"/>
                </a:solidFill>
                <a:latin typeface="Apto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3602736"/>
            <a:ext cx="388620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B2C4BB"/>
                </a:solidFill>
                <a:latin typeface="Aptos"/>
              </a:rPr>
              <a:t>10 задач в день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078224"/>
            <a:ext cx="27432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239167"/>
                </a:solidFill>
                <a:latin typeface="Aptos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312" y="4041648"/>
            <a:ext cx="388620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B2C4BB"/>
                </a:solidFill>
                <a:latin typeface="Aptos"/>
              </a:rPr>
              <a:t>Базовый ИИ-помощник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1417320"/>
            <a:ext cx="5349240" cy="3429000"/>
          </a:xfrm>
          <a:prstGeom prst="roundRect">
            <a:avLst>
              <a:gd name="adj" fmla="val 12000"/>
            </a:avLst>
          </a:prstGeom>
          <a:solidFill>
            <a:srgbClr val="144133"/>
          </a:solidFill>
          <a:ln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1691640"/>
            <a:ext cx="1645920" cy="3200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F5A623"/>
                </a:solidFill>
                <a:latin typeface="Aptos"/>
              </a:rPr>
              <a:t>PREMIUM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057400"/>
            <a:ext cx="3200400" cy="4572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FFC654"/>
                </a:solidFill>
                <a:latin typeface="Aptos"/>
              </a:rPr>
              <a:t>299 ₽ / мес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2761488"/>
            <a:ext cx="27432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5A623"/>
                </a:solidFill>
                <a:latin typeface="Aptos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3992" y="2724912"/>
            <a:ext cx="411480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F7F4EA"/>
                </a:solidFill>
                <a:latin typeface="Aptos"/>
              </a:rPr>
              <a:t>Безлимитные задачи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3200400"/>
            <a:ext cx="27432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5A623"/>
                </a:solidFill>
                <a:latin typeface="Apto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93992" y="3163824"/>
            <a:ext cx="411480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F7F4EA"/>
                </a:solidFill>
                <a:latin typeface="Aptos"/>
              </a:rPr>
              <a:t>Все 5 стадий дракона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3639312"/>
            <a:ext cx="27432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5A623"/>
                </a:solidFill>
                <a:latin typeface="Aptos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93992" y="3602736"/>
            <a:ext cx="411480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F7F4EA"/>
                </a:solidFill>
                <a:latin typeface="Aptos"/>
              </a:rPr>
              <a:t>Продвинутый ИИ и анализ привычек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2" y="4078224"/>
            <a:ext cx="27432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5A623"/>
                </a:solidFill>
                <a:latin typeface="Aptos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3992" y="4041648"/>
            <a:ext cx="411480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F7F4EA"/>
                </a:solidFill>
                <a:latin typeface="Aptos"/>
              </a:rPr>
              <a:t>Кастомизация + экспорт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5138928"/>
            <a:ext cx="10789920" cy="758952"/>
          </a:xfrm>
          <a:prstGeom prst="roundRect">
            <a:avLst>
              <a:gd name="adj" fmla="val 12000"/>
            </a:avLst>
          </a:prstGeom>
          <a:solidFill>
            <a:srgbClr val="123D30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5285232"/>
            <a:ext cx="150876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800" b="1">
                <a:solidFill>
                  <a:srgbClr val="FFC654"/>
                </a:solidFill>
                <a:latin typeface="Aptos"/>
              </a:rPr>
              <a:t>10 000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80" y="5321808"/>
            <a:ext cx="114300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0">
                <a:solidFill>
                  <a:srgbClr val="B2C4BB"/>
                </a:solidFill>
                <a:latin typeface="Aptos"/>
              </a:rPr>
              <a:t>пользователей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5285232"/>
            <a:ext cx="150876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800" b="1">
                <a:solidFill>
                  <a:srgbClr val="FFC654"/>
                </a:solidFill>
                <a:latin typeface="Aptos"/>
              </a:rPr>
              <a:t>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77840" y="5321808"/>
            <a:ext cx="114300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0" dirty="0" err="1">
                <a:solidFill>
                  <a:srgbClr val="B2C4BB"/>
                </a:solidFill>
                <a:latin typeface="Aptos"/>
              </a:rPr>
              <a:t>конверсия</a:t>
            </a:r>
            <a:endParaRPr sz="900" b="0" dirty="0">
              <a:solidFill>
                <a:srgbClr val="B2C4BB"/>
              </a:solidFill>
              <a:latin typeface="Apto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583680" y="5285232"/>
            <a:ext cx="150876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800" b="1">
                <a:solidFill>
                  <a:srgbClr val="FFC654"/>
                </a:solidFill>
                <a:latin typeface="Aptos"/>
              </a:rPr>
              <a:t>149 500 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09560" y="5321808"/>
            <a:ext cx="114300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0">
                <a:solidFill>
                  <a:srgbClr val="B2C4BB"/>
                </a:solidFill>
                <a:latin typeface="Aptos"/>
              </a:rPr>
              <a:t>/ мес.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39" y="5276088"/>
            <a:ext cx="36576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F5A623"/>
                </a:solidFill>
                <a:latin typeface="Aptos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5276088"/>
            <a:ext cx="36576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700" b="1" dirty="0">
                <a:solidFill>
                  <a:srgbClr val="F5A623"/>
                </a:solidFill>
                <a:latin typeface="Aptos"/>
              </a:rPr>
              <a:t>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32520" y="5303520"/>
            <a:ext cx="233172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900" b="1">
                <a:solidFill>
                  <a:srgbClr val="F7F4EA"/>
                </a:solidFill>
                <a:latin typeface="Aptos"/>
              </a:rPr>
              <a:t>+ стикеры • темы • скины • B2B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540412"/>
            <a:ext cx="1213474" cy="12311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en-US" sz="800" dirty="0" smtClean="0">
                <a:solidFill>
                  <a:srgbClr val="B2C4BB"/>
                </a:solidFill>
                <a:latin typeface="Aptos"/>
              </a:rPr>
              <a:t>Task </a:t>
            </a:r>
            <a:r>
              <a:rPr lang="en-US" sz="800" dirty="0" err="1" smtClean="0">
                <a:solidFill>
                  <a:srgbClr val="B2C4BB"/>
                </a:solidFill>
                <a:latin typeface="Aptos"/>
              </a:rPr>
              <a:t>Wyrm</a:t>
            </a:r>
            <a:r>
              <a:rPr sz="800" b="0" dirty="0" smtClean="0">
                <a:solidFill>
                  <a:srgbClr val="B2C4BB"/>
                </a:solidFill>
                <a:latin typeface="Aptos"/>
              </a:rPr>
              <a:t>  </a:t>
            </a:r>
            <a:r>
              <a:rPr sz="800" b="0" dirty="0">
                <a:solidFill>
                  <a:srgbClr val="B2C4BB"/>
                </a:solidFill>
                <a:latin typeface="Aptos"/>
              </a:rPr>
              <a:t>•  Confidential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457200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F5A623"/>
                </a:solidFill>
                <a:latin typeface="Aptos"/>
              </a:rPr>
              <a:t>ТРИ ФУНКЦИИ — ОДИН ПРОДУКТ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5943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F7F4EA"/>
                </a:solidFill>
                <a:latin typeface="Aptos"/>
              </a:rPr>
              <a:t>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B2C4BB"/>
                </a:solidFill>
                <a:latin typeface="Aptos"/>
              </a:rPr>
              <a:t>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3337560" cy="3383280"/>
          </a:xfrm>
          <a:prstGeom prst="roundRect">
            <a:avLst>
              <a:gd name="adj" fmla="val 12000"/>
            </a:avLst>
          </a:prstGeom>
          <a:solidFill>
            <a:srgbClr val="0E3026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60120" y="1737360"/>
            <a:ext cx="640080" cy="640080"/>
          </a:xfrm>
          <a:prstGeom prst="ellipse">
            <a:avLst/>
          </a:prstGeom>
          <a:solidFill>
            <a:srgbClr val="126A4E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901952"/>
            <a:ext cx="64008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7F4EA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84097"/>
            <a:ext cx="2082814" cy="2462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00" b="1" dirty="0" smtClean="0">
                <a:solidFill>
                  <a:srgbClr val="F7F4EA"/>
                </a:solidFill>
                <a:latin typeface="Aptos"/>
              </a:rPr>
              <a:t>[</a:t>
            </a:r>
            <a:r>
              <a:rPr lang="ru-RU" sz="1600" b="1" dirty="0" err="1" smtClean="0">
                <a:solidFill>
                  <a:srgbClr val="F7F4EA"/>
                </a:solidFill>
                <a:latin typeface="Aptos"/>
              </a:rPr>
              <a:t>Никоноров</a:t>
            </a:r>
            <a:r>
              <a:rPr lang="ru-RU" sz="1600" b="1" dirty="0" smtClean="0">
                <a:solidFill>
                  <a:srgbClr val="F7F4EA"/>
                </a:solidFill>
                <a:latin typeface="Aptos"/>
              </a:rPr>
              <a:t> Кирилл</a:t>
            </a:r>
            <a:r>
              <a:rPr sz="1600" b="1" dirty="0" smtClean="0">
                <a:solidFill>
                  <a:srgbClr val="F7F4EA"/>
                </a:solidFill>
                <a:latin typeface="Aptos"/>
              </a:rPr>
              <a:t>]</a:t>
            </a:r>
            <a:endParaRPr sz="1600" b="1" dirty="0">
              <a:solidFill>
                <a:srgbClr val="F7F4EA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" y="3097473"/>
            <a:ext cx="589905" cy="1692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en-US" sz="1100" b="1" dirty="0">
                <a:solidFill>
                  <a:srgbClr val="F5A623"/>
                </a:solidFill>
                <a:latin typeface="Aptos"/>
              </a:rPr>
              <a:t>B</a:t>
            </a:r>
            <a:r>
              <a:rPr lang="en-US" sz="1100" b="1" dirty="0" smtClean="0">
                <a:solidFill>
                  <a:srgbClr val="F5A623"/>
                </a:solidFill>
                <a:latin typeface="Aptos"/>
              </a:rPr>
              <a:t>ackend</a:t>
            </a:r>
            <a:endParaRPr sz="1100" b="1" dirty="0">
              <a:solidFill>
                <a:srgbClr val="F5A623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3667524"/>
            <a:ext cx="1617430" cy="153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ru-RU" sz="1000" dirty="0" smtClean="0">
                <a:solidFill>
                  <a:srgbClr val="B2C4BB"/>
                </a:solidFill>
                <a:latin typeface="Aptos"/>
              </a:rPr>
              <a:t>Внутренняя составляющая</a:t>
            </a:r>
            <a:endParaRPr sz="1000" b="0" dirty="0">
              <a:solidFill>
                <a:srgbClr val="B2C4BB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462272" y="1417320"/>
            <a:ext cx="3337560" cy="3383280"/>
          </a:xfrm>
          <a:prstGeom prst="roundRect">
            <a:avLst>
              <a:gd name="adj" fmla="val 12000"/>
            </a:avLst>
          </a:prstGeom>
          <a:solidFill>
            <a:srgbClr val="0E3026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690872" y="1737360"/>
            <a:ext cx="640080" cy="640080"/>
          </a:xfrm>
          <a:prstGeom prst="ellipse">
            <a:avLst/>
          </a:prstGeom>
          <a:solidFill>
            <a:srgbClr val="126A4E"/>
          </a:solidFill>
          <a:ln w="25400"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90872" y="1901952"/>
            <a:ext cx="64008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7F4EA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2684097"/>
            <a:ext cx="1885644" cy="2462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00" b="1" dirty="0" smtClean="0">
                <a:solidFill>
                  <a:srgbClr val="F7F4EA"/>
                </a:solidFill>
                <a:latin typeface="Aptos"/>
              </a:rPr>
              <a:t>[</a:t>
            </a:r>
            <a:r>
              <a:rPr lang="ru-RU" sz="1600" b="1" dirty="0" smtClean="0">
                <a:solidFill>
                  <a:srgbClr val="F7F4EA"/>
                </a:solidFill>
                <a:latin typeface="Aptos"/>
              </a:rPr>
              <a:t>Щепелев Кирилл</a:t>
            </a:r>
            <a:r>
              <a:rPr sz="1600" b="1" dirty="0" smtClean="0">
                <a:solidFill>
                  <a:srgbClr val="F7F4EA"/>
                </a:solidFill>
                <a:latin typeface="Aptos"/>
              </a:rPr>
              <a:t>]</a:t>
            </a:r>
            <a:endParaRPr sz="1600" b="1" dirty="0">
              <a:solidFill>
                <a:srgbClr val="F7F4EA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690872" y="3097473"/>
            <a:ext cx="612347" cy="1692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en-US" sz="1100" b="1" dirty="0" smtClean="0">
                <a:solidFill>
                  <a:srgbClr val="F5A623"/>
                </a:solidFill>
                <a:latin typeface="Aptos"/>
              </a:rPr>
              <a:t>Frontend</a:t>
            </a:r>
            <a:endParaRPr sz="1100" b="1" dirty="0">
              <a:solidFill>
                <a:srgbClr val="F5A623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690872" y="3667524"/>
            <a:ext cx="1490793" cy="153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ru-RU" sz="1000" b="0" dirty="0" smtClean="0">
                <a:solidFill>
                  <a:srgbClr val="B2C4BB"/>
                </a:solidFill>
                <a:latin typeface="Aptos"/>
              </a:rPr>
              <a:t>Внешняя составляющая </a:t>
            </a:r>
            <a:endParaRPr sz="1000" b="0" dirty="0">
              <a:solidFill>
                <a:srgbClr val="B2C4BB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193024" y="1417320"/>
            <a:ext cx="3337560" cy="3383280"/>
          </a:xfrm>
          <a:prstGeom prst="roundRect">
            <a:avLst>
              <a:gd name="adj" fmla="val 12000"/>
            </a:avLst>
          </a:prstGeom>
          <a:solidFill>
            <a:srgbClr val="0E3026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421624" y="1737360"/>
            <a:ext cx="640080" cy="640080"/>
          </a:xfrm>
          <a:prstGeom prst="ellipse">
            <a:avLst/>
          </a:prstGeom>
          <a:solidFill>
            <a:srgbClr val="126A4E"/>
          </a:solidFill>
          <a:ln w="25400"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21624" y="1901952"/>
            <a:ext cx="64008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7F4EA"/>
                </a:solidFill>
                <a:latin typeface="Apto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2684097"/>
            <a:ext cx="1722844" cy="2462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00" b="1" dirty="0" smtClean="0">
                <a:solidFill>
                  <a:srgbClr val="F7F4EA"/>
                </a:solidFill>
                <a:latin typeface="Aptos"/>
              </a:rPr>
              <a:t>[</a:t>
            </a:r>
            <a:r>
              <a:rPr lang="ru-RU" sz="1600" b="1" dirty="0" smtClean="0">
                <a:solidFill>
                  <a:srgbClr val="F7F4EA"/>
                </a:solidFill>
                <a:latin typeface="Aptos"/>
              </a:rPr>
              <a:t>Смоляков Иван</a:t>
            </a:r>
            <a:r>
              <a:rPr sz="1600" b="1" dirty="0" smtClean="0">
                <a:solidFill>
                  <a:srgbClr val="F7F4EA"/>
                </a:solidFill>
                <a:latin typeface="Aptos"/>
              </a:rPr>
              <a:t>]</a:t>
            </a:r>
            <a:endParaRPr sz="1600" b="1" dirty="0">
              <a:solidFill>
                <a:srgbClr val="F7F4EA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421624" y="3097473"/>
            <a:ext cx="1530868" cy="1692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 dirty="0">
                <a:solidFill>
                  <a:srgbClr val="F5A623"/>
                </a:solidFill>
                <a:latin typeface="Aptos"/>
              </a:rPr>
              <a:t>CMO / </a:t>
            </a:r>
            <a:r>
              <a:rPr sz="1100" b="1" dirty="0" smtClean="0">
                <a:solidFill>
                  <a:srgbClr val="F5A623"/>
                </a:solidFill>
                <a:latin typeface="Aptos"/>
              </a:rPr>
              <a:t>Marketing</a:t>
            </a:r>
            <a:r>
              <a:rPr lang="ru-RU" sz="1100" b="1" dirty="0" smtClean="0">
                <a:solidFill>
                  <a:srgbClr val="F5A623"/>
                </a:solidFill>
                <a:latin typeface="Aptos"/>
              </a:rPr>
              <a:t> / </a:t>
            </a:r>
            <a:r>
              <a:rPr lang="en-US" sz="1100" b="1" dirty="0" smtClean="0">
                <a:solidFill>
                  <a:srgbClr val="F5A623"/>
                </a:solidFill>
                <a:latin typeface="Aptos"/>
              </a:rPr>
              <a:t>CEO</a:t>
            </a:r>
            <a:endParaRPr sz="1100" b="1" dirty="0">
              <a:solidFill>
                <a:srgbClr val="F5A623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421624" y="3667524"/>
            <a:ext cx="2418932" cy="153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000" b="0" dirty="0">
                <a:solidFill>
                  <a:srgbClr val="B2C4BB"/>
                </a:solidFill>
                <a:latin typeface="Aptos"/>
              </a:rPr>
              <a:t>SMM • </a:t>
            </a:r>
            <a:r>
              <a:rPr sz="1000" b="0" dirty="0" err="1">
                <a:solidFill>
                  <a:srgbClr val="B2C4BB"/>
                </a:solidFill>
                <a:latin typeface="Aptos"/>
              </a:rPr>
              <a:t>запуск</a:t>
            </a:r>
            <a:r>
              <a:rPr sz="1000" b="0" dirty="0">
                <a:solidFill>
                  <a:srgbClr val="B2C4BB"/>
                </a:solidFill>
                <a:latin typeface="Aptos"/>
              </a:rPr>
              <a:t> • </a:t>
            </a:r>
            <a:r>
              <a:rPr sz="1000" b="0" dirty="0" err="1" smtClean="0">
                <a:solidFill>
                  <a:srgbClr val="B2C4BB"/>
                </a:solidFill>
                <a:latin typeface="Aptos"/>
              </a:rPr>
              <a:t>партнёрства</a:t>
            </a:r>
            <a:r>
              <a:rPr lang="en-US" sz="1000" b="0" dirty="0" smtClean="0">
                <a:solidFill>
                  <a:srgbClr val="B2C4BB"/>
                </a:solidFill>
                <a:latin typeface="Aptos"/>
              </a:rPr>
              <a:t> </a:t>
            </a:r>
            <a:r>
              <a:rPr lang="ru-RU" sz="1000" dirty="0">
                <a:solidFill>
                  <a:srgbClr val="B2C4BB"/>
                </a:solidFill>
                <a:latin typeface="Aptos"/>
              </a:rPr>
              <a:t>• </a:t>
            </a:r>
            <a:r>
              <a:rPr lang="ru-RU" sz="1000" dirty="0" smtClean="0">
                <a:solidFill>
                  <a:srgbClr val="B2C4BB"/>
                </a:solidFill>
                <a:latin typeface="Aptos"/>
              </a:rPr>
              <a:t>Стратегия</a:t>
            </a:r>
            <a:r>
              <a:rPr lang="en-US" sz="1000" b="0" dirty="0" smtClean="0">
                <a:solidFill>
                  <a:srgbClr val="B2C4BB"/>
                </a:solidFill>
                <a:latin typeface="Aptos"/>
              </a:rPr>
              <a:t> </a:t>
            </a:r>
            <a:endParaRPr sz="1000" b="0" dirty="0">
              <a:solidFill>
                <a:srgbClr val="B2C4BB"/>
              </a:solidFill>
              <a:latin typeface="Aptos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731520" y="5166360"/>
            <a:ext cx="10698480" cy="777240"/>
          </a:xfrm>
          <a:prstGeom prst="roundRect">
            <a:avLst>
              <a:gd name="adj" fmla="val 12000"/>
            </a:avLst>
          </a:prstGeom>
          <a:solidFill>
            <a:srgbClr val="123D30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0120" y="5321808"/>
            <a:ext cx="123444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5A623"/>
                </a:solidFill>
                <a:latin typeface="Aptos"/>
              </a:rPr>
              <a:t>Почему мы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5285232"/>
            <a:ext cx="8595360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F7F4EA"/>
                </a:solidFill>
                <a:latin typeface="Aptos"/>
              </a:rPr>
              <a:t>Понимаем аудиторию • строим продукт вокруг привычки • готовы быстро тестировать гипотезы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540412"/>
            <a:ext cx="1213474" cy="12311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en-US" sz="800" dirty="0" smtClean="0">
                <a:solidFill>
                  <a:srgbClr val="B2C4BB"/>
                </a:solidFill>
                <a:latin typeface="Aptos"/>
              </a:rPr>
              <a:t>Task </a:t>
            </a:r>
            <a:r>
              <a:rPr lang="en-US" sz="800" dirty="0" err="1" smtClean="0">
                <a:solidFill>
                  <a:srgbClr val="B2C4BB"/>
                </a:solidFill>
                <a:latin typeface="Aptos"/>
              </a:rPr>
              <a:t>Wyrm</a:t>
            </a:r>
            <a:r>
              <a:rPr sz="800" b="0" dirty="0" smtClean="0">
                <a:solidFill>
                  <a:srgbClr val="B2C4BB"/>
                </a:solidFill>
                <a:latin typeface="Aptos"/>
              </a:rPr>
              <a:t>  •  Confidential</a:t>
            </a:r>
            <a:endParaRPr sz="800" b="0" dirty="0">
              <a:solidFill>
                <a:srgbClr val="B2C4BB"/>
              </a:solidFill>
              <a:latin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457200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F5A623"/>
                </a:solidFill>
                <a:latin typeface="Aptos"/>
              </a:rPr>
              <a:t>СЛЕДУЮЩИЙ ЭТАП — MVP И ПЕРВЫЕ ПОЛЬЗОВАТЕЛИ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5943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F7F4EA"/>
                </a:solidFill>
                <a:latin typeface="Aptos"/>
              </a:rPr>
              <a:t>Финансы и запрос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B2C4BB"/>
                </a:solidFill>
                <a:latin typeface="Apto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298448"/>
            <a:ext cx="4572000" cy="6583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3800" b="1">
                <a:solidFill>
                  <a:srgbClr val="FFC654"/>
                </a:solidFill>
                <a:latin typeface="Aptos"/>
              </a:rPr>
              <a:t>3 000 000 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938528"/>
            <a:ext cx="402336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B2C4BB"/>
                </a:solidFill>
                <a:latin typeface="Aptos"/>
              </a:rPr>
              <a:t>инвестиционный запрос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487168"/>
            <a:ext cx="274320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F7F4EA"/>
                </a:solidFill>
                <a:latin typeface="Aptos"/>
              </a:rPr>
              <a:t>MVP — 1.2M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2523744"/>
            <a:ext cx="4160520" cy="182880"/>
          </a:xfrm>
          <a:prstGeom prst="roundRect">
            <a:avLst>
              <a:gd name="adj" fmla="val 12000"/>
            </a:avLst>
          </a:prstGeom>
          <a:solidFill>
            <a:srgbClr val="1D3D33"/>
          </a:solidFill>
          <a:ln>
            <a:solidFill>
              <a:srgbClr val="1D3D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611880" y="2523744"/>
            <a:ext cx="4160520" cy="182880"/>
          </a:xfrm>
          <a:prstGeom prst="roundRect">
            <a:avLst>
              <a:gd name="adj" fmla="val 12000"/>
            </a:avLst>
          </a:prstGeom>
          <a:solidFill>
            <a:srgbClr val="F5A623"/>
          </a:solidFill>
          <a:ln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2990088"/>
            <a:ext cx="274320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F7F4EA"/>
                </a:solidFill>
                <a:latin typeface="Aptos"/>
              </a:rPr>
              <a:t>Дизайн + маскот — 0.4M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3026664"/>
            <a:ext cx="4160520" cy="182880"/>
          </a:xfrm>
          <a:prstGeom prst="roundRect">
            <a:avLst>
              <a:gd name="adj" fmla="val 12000"/>
            </a:avLst>
          </a:prstGeom>
          <a:solidFill>
            <a:srgbClr val="1D3D33"/>
          </a:solidFill>
          <a:ln>
            <a:solidFill>
              <a:srgbClr val="1D3D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611880" y="3026664"/>
            <a:ext cx="1386840" cy="182880"/>
          </a:xfrm>
          <a:prstGeom prst="roundRect">
            <a:avLst>
              <a:gd name="adj" fmla="val 12000"/>
            </a:avLst>
          </a:prstGeom>
          <a:solidFill>
            <a:srgbClr val="239167"/>
          </a:solidFill>
          <a:ln>
            <a:solidFill>
              <a:srgbClr val="2391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3493008"/>
            <a:ext cx="274320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F7F4EA"/>
                </a:solidFill>
                <a:latin typeface="Aptos"/>
              </a:rPr>
              <a:t>Маркетинг — 0.8M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11880" y="3529584"/>
            <a:ext cx="4160520" cy="182880"/>
          </a:xfrm>
          <a:prstGeom prst="roundRect">
            <a:avLst>
              <a:gd name="adj" fmla="val 12000"/>
            </a:avLst>
          </a:prstGeom>
          <a:solidFill>
            <a:srgbClr val="1D3D33"/>
          </a:solidFill>
          <a:ln>
            <a:solidFill>
              <a:srgbClr val="1D3D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3611880" y="3529584"/>
            <a:ext cx="2773680" cy="182880"/>
          </a:xfrm>
          <a:prstGeom prst="roundRect">
            <a:avLst>
              <a:gd name="adj" fmla="val 12000"/>
            </a:avLst>
          </a:prstGeom>
          <a:solidFill>
            <a:srgbClr val="FFC654"/>
          </a:solidFill>
          <a:ln>
            <a:solidFill>
              <a:srgbClr val="FFC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8" y="3995928"/>
            <a:ext cx="274320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F7F4EA"/>
                </a:solidFill>
                <a:latin typeface="Aptos"/>
              </a:rPr>
              <a:t>Юр. + ТЗ — 0.2M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11880" y="4032504"/>
            <a:ext cx="4160520" cy="182880"/>
          </a:xfrm>
          <a:prstGeom prst="roundRect">
            <a:avLst>
              <a:gd name="adj" fmla="val 12000"/>
            </a:avLst>
          </a:prstGeom>
          <a:solidFill>
            <a:srgbClr val="1D3D33"/>
          </a:solidFill>
          <a:ln>
            <a:solidFill>
              <a:srgbClr val="1D3D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3611880" y="4032504"/>
            <a:ext cx="693420" cy="182880"/>
          </a:xfrm>
          <a:prstGeom prst="roundRect">
            <a:avLst>
              <a:gd name="adj" fmla="val 12000"/>
            </a:avLst>
          </a:prstGeom>
          <a:solidFill>
            <a:srgbClr val="239167"/>
          </a:solidFill>
          <a:ln>
            <a:solidFill>
              <a:srgbClr val="2391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8" y="4498848"/>
            <a:ext cx="274320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F7F4EA"/>
                </a:solidFill>
                <a:latin typeface="Aptos"/>
              </a:rPr>
              <a:t>Резерв — 0.4M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11880" y="4535424"/>
            <a:ext cx="4160520" cy="182880"/>
          </a:xfrm>
          <a:prstGeom prst="roundRect">
            <a:avLst>
              <a:gd name="adj" fmla="val 12000"/>
            </a:avLst>
          </a:prstGeom>
          <a:solidFill>
            <a:srgbClr val="1D3D33"/>
          </a:solidFill>
          <a:ln>
            <a:solidFill>
              <a:srgbClr val="1D3D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3611880" y="4535424"/>
            <a:ext cx="1386840" cy="182880"/>
          </a:xfrm>
          <a:prstGeom prst="roundRect">
            <a:avLst>
              <a:gd name="adj" fmla="val 12000"/>
            </a:avLst>
          </a:prstGeom>
          <a:solidFill>
            <a:srgbClr val="B2C4BB"/>
          </a:solidFill>
          <a:ln>
            <a:solidFill>
              <a:srgbClr val="B2C4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092440" y="1325880"/>
            <a:ext cx="3337560" cy="3337560"/>
          </a:xfrm>
          <a:prstGeom prst="roundRect">
            <a:avLst>
              <a:gd name="adj" fmla="val 12000"/>
            </a:avLst>
          </a:prstGeom>
          <a:solidFill>
            <a:srgbClr val="0E3026"/>
          </a:solidFill>
          <a:ln>
            <a:solidFill>
              <a:srgbClr val="30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94192" y="1645920"/>
            <a:ext cx="2560320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200" b="1">
                <a:solidFill>
                  <a:srgbClr val="F7F4EA"/>
                </a:solidFill>
                <a:latin typeface="Aptos"/>
              </a:rPr>
              <a:t>6 месяцев</a:t>
            </a:r>
          </a:p>
        </p:txBody>
      </p:sp>
      <p:sp>
        <p:nvSpPr>
          <p:cNvPr id="24" name="Oval 23"/>
          <p:cNvSpPr/>
          <p:nvPr/>
        </p:nvSpPr>
        <p:spPr>
          <a:xfrm>
            <a:off x="8458200" y="2331720"/>
            <a:ext cx="201168" cy="20116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796528" y="2276856"/>
            <a:ext cx="224028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F7F4EA"/>
                </a:solidFill>
                <a:latin typeface="Aptos"/>
              </a:rPr>
              <a:t>10 000 регистраций</a:t>
            </a:r>
          </a:p>
        </p:txBody>
      </p:sp>
      <p:sp>
        <p:nvSpPr>
          <p:cNvPr id="26" name="Oval 25"/>
          <p:cNvSpPr/>
          <p:nvPr/>
        </p:nvSpPr>
        <p:spPr>
          <a:xfrm>
            <a:off x="8458200" y="2834639"/>
            <a:ext cx="201168" cy="20116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796528" y="2779776"/>
            <a:ext cx="224028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F7F4EA"/>
                </a:solidFill>
                <a:latin typeface="Aptos"/>
              </a:rPr>
              <a:t>500 Premium</a:t>
            </a:r>
          </a:p>
        </p:txBody>
      </p:sp>
      <p:sp>
        <p:nvSpPr>
          <p:cNvPr id="28" name="Oval 27"/>
          <p:cNvSpPr/>
          <p:nvPr/>
        </p:nvSpPr>
        <p:spPr>
          <a:xfrm>
            <a:off x="8458200" y="3337560"/>
            <a:ext cx="201168" cy="20116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796528" y="3282696"/>
            <a:ext cx="224028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F7F4EA"/>
                </a:solidFill>
                <a:latin typeface="Aptos"/>
              </a:rPr>
              <a:t>149 500 ₽ / мес</a:t>
            </a:r>
          </a:p>
        </p:txBody>
      </p:sp>
      <p:sp>
        <p:nvSpPr>
          <p:cNvPr id="30" name="Oval 29"/>
          <p:cNvSpPr/>
          <p:nvPr/>
        </p:nvSpPr>
        <p:spPr>
          <a:xfrm>
            <a:off x="8458200" y="3840480"/>
            <a:ext cx="201168" cy="20116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796528" y="3785616"/>
            <a:ext cx="224028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F7F4EA"/>
                </a:solidFill>
                <a:latin typeface="Aptos"/>
              </a:rPr>
              <a:t>готовность к seed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5166360"/>
            <a:ext cx="137160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5A623"/>
                </a:solidFill>
                <a:latin typeface="Aptos"/>
              </a:rPr>
              <a:t>Предлагаем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74519" y="5120640"/>
            <a:ext cx="4114800" cy="3840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F7F4EA"/>
                </a:solidFill>
                <a:latin typeface="Aptos"/>
              </a:rPr>
              <a:t>10–15% доли • условия обсуждаемы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92440" y="5230368"/>
            <a:ext cx="109728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F5A623"/>
                </a:solidFill>
                <a:latin typeface="Aptos"/>
              </a:rPr>
              <a:t>Контакты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2440" y="5618875"/>
            <a:ext cx="1716817" cy="33855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lang="en-US" sz="1100" b="1" dirty="0" smtClean="0">
                <a:solidFill>
                  <a:srgbClr val="F7F4EA"/>
                </a:solidFill>
                <a:latin typeface="Aptos"/>
              </a:rPr>
              <a:t>task_wyrm@yandex.ru</a:t>
            </a:r>
            <a:r>
              <a:rPr sz="1100" b="1" dirty="0" smtClean="0">
                <a:solidFill>
                  <a:srgbClr val="F7F4EA"/>
                </a:solidFill>
                <a:latin typeface="Aptos"/>
              </a:rPr>
              <a:t>
</a:t>
            </a:r>
            <a:r>
              <a:rPr lang="en-US" sz="1100" b="1" dirty="0" smtClean="0">
                <a:solidFill>
                  <a:srgbClr val="F7F4EA"/>
                </a:solidFill>
                <a:latin typeface="Aptos"/>
              </a:rPr>
              <a:t>https</a:t>
            </a:r>
            <a:r>
              <a:rPr lang="en-US" sz="1100" b="1" dirty="0">
                <a:solidFill>
                  <a:srgbClr val="F7F4EA"/>
                </a:solidFill>
                <a:latin typeface="Aptos"/>
              </a:rPr>
              <a:t>://</a:t>
            </a:r>
            <a:r>
              <a:rPr lang="en-US" sz="1100" b="1" dirty="0" smtClean="0">
                <a:solidFill>
                  <a:srgbClr val="F7F4EA"/>
                </a:solidFill>
                <a:latin typeface="Aptos"/>
              </a:rPr>
              <a:t>task-wyrm.tilda.ws</a:t>
            </a:r>
            <a:endParaRPr sz="1100" b="1" dirty="0">
              <a:solidFill>
                <a:srgbClr val="F7F4EA"/>
              </a:solidFill>
              <a:latin typeface="Apto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749808" y="6108192"/>
            <a:ext cx="658368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B2C4BB"/>
                </a:solidFill>
                <a:latin typeface="Aptos"/>
              </a:rPr>
              <a:t>Финансовые прогнозы — целевые сценарии из исходного концепта, не гарантии результата.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540412"/>
            <a:ext cx="575479" cy="12311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en-US" sz="800" dirty="0" smtClean="0">
                <a:solidFill>
                  <a:srgbClr val="B2C4BB"/>
                </a:solidFill>
                <a:latin typeface="Aptos"/>
              </a:rPr>
              <a:t>Task </a:t>
            </a:r>
            <a:r>
              <a:rPr lang="en-US" sz="800" dirty="0" err="1" smtClean="0">
                <a:solidFill>
                  <a:srgbClr val="B2C4BB"/>
                </a:solidFill>
                <a:latin typeface="Aptos"/>
              </a:rPr>
              <a:t>Wyrm</a:t>
            </a:r>
            <a:r>
              <a:rPr sz="800" b="0" dirty="0" smtClean="0">
                <a:solidFill>
                  <a:srgbClr val="B2C4BB"/>
                </a:solidFill>
                <a:latin typeface="Aptos"/>
              </a:rPr>
              <a:t>  </a:t>
            </a:r>
            <a:endParaRPr sz="800" b="0" dirty="0">
              <a:solidFill>
                <a:srgbClr val="B2C4BB"/>
              </a:solidFill>
              <a:latin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573</Words>
  <Application>Microsoft Office PowerPoint</Application>
  <PresentationFormat>Широкоэкранный</PresentationFormat>
  <Paragraphs>195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3" baseType="lpstr">
      <vt:lpstr>Aptos</vt:lpstr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Кирилл Щепелев</cp:lastModifiedBy>
  <cp:revision>10</cp:revision>
  <dcterms:created xsi:type="dcterms:W3CDTF">2013-01-27T09:14:16Z</dcterms:created>
  <dcterms:modified xsi:type="dcterms:W3CDTF">2026-10-03T00:51:49Z</dcterms:modified>
  <cp:category/>
</cp:coreProperties>
</file>