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69680" y="-822960"/>
            <a:ext cx="3840480" cy="3840480"/>
          </a:xfrm>
          <a:prstGeom prst="ellipse">
            <a:avLst/>
          </a:prstGeom>
          <a:solidFill>
            <a:srgbClr val="0B3D2E"/>
          </a:solidFill>
          <a:ln w="12700">
            <a:solidFill>
              <a:srgbClr val="0B3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097280" y="5212080"/>
            <a:ext cx="3108960" cy="3108960"/>
          </a:xfrm>
          <a:prstGeom prst="ellipse">
            <a:avLst/>
          </a:prstGeom>
          <a:solidFill>
            <a:srgbClr val="082D22"/>
          </a:solidFill>
          <a:ln w="12700">
            <a:solidFill>
              <a:srgbClr val="082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1429583"/>
            <a:ext cx="2690545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4000" b="1" dirty="0" smtClean="0">
                <a:solidFill>
                  <a:srgbClr val="F7F4EA"/>
                </a:solidFill>
                <a:latin typeface="Aptos"/>
              </a:rPr>
              <a:t>Task </a:t>
            </a:r>
            <a:r>
              <a:rPr lang="en-US" sz="4000" b="1" dirty="0" err="1" smtClean="0">
                <a:solidFill>
                  <a:srgbClr val="F7F4EA"/>
                </a:solidFill>
                <a:latin typeface="Aptos"/>
              </a:rPr>
              <a:t>Wyrm</a:t>
            </a:r>
            <a:endParaRPr sz="4000" b="1" dirty="0">
              <a:solidFill>
                <a:srgbClr val="F7F4EA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61488" y="2084831"/>
            <a:ext cx="6400800" cy="8686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C654"/>
                </a:solidFill>
                <a:latin typeface="Aptos"/>
              </a:rPr>
              <a:t>Вырасти своего дракона.
Вырастить себя.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3090672"/>
            <a:ext cx="685800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B2C4BB"/>
                </a:solidFill>
                <a:latin typeface="Aptos"/>
              </a:rPr>
              <a:t>Трекер задач с ИИ и драконьей механикой прогресса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4681728"/>
            <a:ext cx="347472" cy="347472"/>
          </a:xfrm>
          <a:prstGeom prst="ellipse">
            <a:avLst/>
          </a:prstGeom>
          <a:solidFill>
            <a:srgbClr val="144133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736592"/>
            <a:ext cx="347472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7F4EA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84064"/>
            <a:ext cx="8229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B2C4BB"/>
                </a:solidFill>
                <a:latin typeface="Aptos"/>
              </a:rPr>
              <a:t>Яйцо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44168" y="4855464"/>
            <a:ext cx="1243584" cy="0"/>
          </a:xfrm>
          <a:prstGeom prst="line">
            <a:avLst/>
          </a:prstGeom>
          <a:ln w="1270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926080" y="4681728"/>
            <a:ext cx="347472" cy="347472"/>
          </a:xfrm>
          <a:prstGeom prst="ellipse">
            <a:avLst/>
          </a:prstGeom>
          <a:solidFill>
            <a:srgbClr val="F5A623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26080" y="4736592"/>
            <a:ext cx="347472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7F4EA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5084064"/>
            <a:ext cx="8229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B2C4BB"/>
                </a:solidFill>
                <a:latin typeface="Aptos"/>
              </a:rPr>
              <a:t>Wyrmling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310128" y="4855464"/>
            <a:ext cx="1243584" cy="0"/>
          </a:xfrm>
          <a:prstGeom prst="line">
            <a:avLst/>
          </a:prstGeom>
          <a:ln w="1270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892040" y="4681728"/>
            <a:ext cx="347472" cy="347472"/>
          </a:xfrm>
          <a:prstGeom prst="ellipse">
            <a:avLst/>
          </a:prstGeom>
          <a:solidFill>
            <a:srgbClr val="144133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92040" y="4736592"/>
            <a:ext cx="347472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7F4EA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084064"/>
            <a:ext cx="8229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B2C4BB"/>
                </a:solidFill>
                <a:latin typeface="Aptos"/>
              </a:rPr>
              <a:t>Drake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276088" y="4855464"/>
            <a:ext cx="1243584" cy="0"/>
          </a:xfrm>
          <a:prstGeom prst="line">
            <a:avLst/>
          </a:prstGeom>
          <a:ln w="1270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857999" y="4681728"/>
            <a:ext cx="347472" cy="347472"/>
          </a:xfrm>
          <a:prstGeom prst="ellipse">
            <a:avLst/>
          </a:prstGeom>
          <a:solidFill>
            <a:srgbClr val="144133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7999" y="4736592"/>
            <a:ext cx="347472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7F4EA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399" y="5084064"/>
            <a:ext cx="8229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B2C4BB"/>
                </a:solidFill>
                <a:latin typeface="Aptos"/>
              </a:rPr>
              <a:t>Wyrm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242047" y="4855464"/>
            <a:ext cx="1243585" cy="0"/>
          </a:xfrm>
          <a:prstGeom prst="line">
            <a:avLst/>
          </a:prstGeom>
          <a:ln w="1270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823960" y="4681728"/>
            <a:ext cx="347472" cy="347472"/>
          </a:xfrm>
          <a:prstGeom prst="ellipse">
            <a:avLst/>
          </a:prstGeom>
          <a:solidFill>
            <a:srgbClr val="144133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23960" y="4736592"/>
            <a:ext cx="347472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7F4EA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5084064"/>
            <a:ext cx="8229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B2C4BB"/>
                </a:solidFill>
                <a:latin typeface="Aptos"/>
              </a:rPr>
              <a:t>Elder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049536"/>
            <a:ext cx="3281348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ru-RU" sz="1000" dirty="0" err="1" smtClean="0">
                <a:solidFill>
                  <a:srgbClr val="B2C4BB"/>
                </a:solidFill>
                <a:latin typeface="Aptos"/>
              </a:rPr>
              <a:t>Никоноров</a:t>
            </a:r>
            <a:r>
              <a:rPr lang="ru-RU" sz="1000" dirty="0" smtClean="0">
                <a:solidFill>
                  <a:srgbClr val="B2C4BB"/>
                </a:solidFill>
                <a:latin typeface="Aptos"/>
              </a:rPr>
              <a:t> Кирилл, Щепелев Кирилл, Смоляков Иван</a:t>
            </a:r>
            <a:r>
              <a:rPr sz="1000" b="0" dirty="0" smtClean="0">
                <a:solidFill>
                  <a:srgbClr val="B2C4BB"/>
                </a:solidFill>
                <a:latin typeface="Aptos"/>
              </a:rPr>
              <a:t> </a:t>
            </a:r>
            <a:endParaRPr sz="1000" b="0" dirty="0">
              <a:solidFill>
                <a:srgbClr val="B2C4BB"/>
              </a:solidFill>
              <a:latin typeface="Aptos"/>
            </a:endParaRPr>
          </a:p>
        </p:txBody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52" y="883340"/>
            <a:ext cx="2286000" cy="2276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Aptos"/>
              </a:rPr>
              <a:t>ПОЧЕМУ ЛЮДИ БРОСАЮТ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7F4EA"/>
                </a:solidFill>
                <a:latin typeface="Aptos"/>
              </a:rP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B2C4BB"/>
                </a:solidFill>
                <a:latin typeface="Aptos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35640" cy="841248"/>
          </a:xfrm>
          <a:prstGeom prst="roundRect">
            <a:avLst>
              <a:gd name="adj" fmla="val 12000"/>
            </a:avLst>
          </a:prstGeom>
          <a:solidFill>
            <a:srgbClr val="0E3026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719072"/>
            <a:ext cx="393192" cy="393192"/>
          </a:xfrm>
          <a:prstGeom prst="ellipse">
            <a:avLst/>
          </a:prstGeom>
          <a:solidFill>
            <a:srgbClr val="E25B5B"/>
          </a:solidFill>
          <a:ln w="12700">
            <a:solidFill>
              <a:srgbClr val="E2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81328" y="1617148"/>
            <a:ext cx="596317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1800" b="1" dirty="0" smtClean="0">
                <a:solidFill>
                  <a:srgbClr val="F7F4EA"/>
                </a:solidFill>
                <a:latin typeface="Aptos"/>
              </a:rPr>
              <a:t>~</a:t>
            </a:r>
            <a:r>
              <a:rPr sz="1800" b="1" dirty="0" smtClean="0">
                <a:solidFill>
                  <a:srgbClr val="F7F4EA"/>
                </a:solidFill>
                <a:latin typeface="Aptos"/>
              </a:rPr>
              <a:t>6</a:t>
            </a:r>
            <a:r>
              <a:rPr lang="en-US" sz="1800" b="1" dirty="0" smtClean="0">
                <a:solidFill>
                  <a:srgbClr val="F7F4EA"/>
                </a:solidFill>
                <a:latin typeface="Aptos"/>
              </a:rPr>
              <a:t>0</a:t>
            </a:r>
            <a:r>
              <a:rPr sz="1800" b="1" dirty="0" smtClean="0">
                <a:solidFill>
                  <a:srgbClr val="F7F4EA"/>
                </a:solidFill>
                <a:latin typeface="Aptos"/>
              </a:rPr>
              <a:t>%</a:t>
            </a:r>
            <a:endParaRPr sz="1800" b="1" dirty="0">
              <a:solidFill>
                <a:srgbClr val="F7F4EA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16624" y="1632204"/>
            <a:ext cx="8092440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 dirty="0" err="1">
                <a:solidFill>
                  <a:srgbClr val="B2C4BB"/>
                </a:solidFill>
                <a:latin typeface="Aptos"/>
              </a:rPr>
              <a:t>пользователей</a:t>
            </a:r>
            <a:r>
              <a:rPr sz="1200" b="0" dirty="0">
                <a:solidFill>
                  <a:srgbClr val="B2C4BB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B2C4BB"/>
                </a:solidFill>
                <a:latin typeface="Aptos"/>
              </a:rPr>
              <a:t>удаляют</a:t>
            </a:r>
            <a:r>
              <a:rPr sz="1200" b="0" dirty="0">
                <a:solidFill>
                  <a:srgbClr val="B2C4BB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B2C4BB"/>
                </a:solidFill>
                <a:latin typeface="Aptos"/>
              </a:rPr>
              <a:t>трекеры</a:t>
            </a:r>
            <a:r>
              <a:rPr sz="1200" b="0" dirty="0">
                <a:solidFill>
                  <a:srgbClr val="B2C4BB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B2C4BB"/>
                </a:solidFill>
                <a:latin typeface="Aptos"/>
              </a:rPr>
              <a:t>задач</a:t>
            </a:r>
            <a:r>
              <a:rPr sz="1200" b="0" dirty="0">
                <a:solidFill>
                  <a:srgbClr val="B2C4BB"/>
                </a:solidFill>
                <a:latin typeface="Aptos"/>
              </a:rPr>
              <a:t> в </a:t>
            </a:r>
            <a:r>
              <a:rPr sz="1200" b="0" dirty="0" err="1">
                <a:solidFill>
                  <a:srgbClr val="B2C4BB"/>
                </a:solidFill>
                <a:latin typeface="Aptos"/>
              </a:rPr>
              <a:t>течение</a:t>
            </a:r>
            <a:r>
              <a:rPr sz="1200" b="0" dirty="0">
                <a:solidFill>
                  <a:srgbClr val="B2C4BB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B2C4BB"/>
                </a:solidFill>
                <a:latin typeface="Aptos"/>
              </a:rPr>
              <a:t>первой</a:t>
            </a:r>
            <a:r>
              <a:rPr sz="1200" b="0" dirty="0">
                <a:solidFill>
                  <a:srgbClr val="B2C4BB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B2C4BB"/>
                </a:solidFill>
                <a:latin typeface="Aptos"/>
              </a:rPr>
              <a:t>недели</a:t>
            </a:r>
            <a:r>
              <a:rPr sz="1200" b="0" dirty="0">
                <a:solidFill>
                  <a:srgbClr val="B2C4BB"/>
                </a:solidFill>
                <a:latin typeface="Aptos"/>
              </a:rPr>
              <a:t>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32888"/>
            <a:ext cx="10835640" cy="841248"/>
          </a:xfrm>
          <a:prstGeom prst="roundRect">
            <a:avLst>
              <a:gd name="adj" fmla="val 12000"/>
            </a:avLst>
          </a:prstGeom>
          <a:solidFill>
            <a:srgbClr val="0E3026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2743200"/>
            <a:ext cx="393192" cy="393192"/>
          </a:xfrm>
          <a:prstGeom prst="ellipse">
            <a:avLst/>
          </a:prstGeom>
          <a:solidFill>
            <a:srgbClr val="E25B5B"/>
          </a:solidFill>
          <a:ln w="12700">
            <a:solidFill>
              <a:srgbClr val="E2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81328" y="2633472"/>
            <a:ext cx="182880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7F4EA"/>
                </a:solidFill>
                <a:latin typeface="Aptos"/>
              </a:rPr>
              <a:t>Прокрастинация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6624" y="2664264"/>
            <a:ext cx="8092440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 dirty="0" err="1">
                <a:solidFill>
                  <a:srgbClr val="B2C4BB"/>
                </a:solidFill>
                <a:latin typeface="Aptos"/>
              </a:rPr>
              <a:t>усиливается</a:t>
            </a:r>
            <a:r>
              <a:rPr sz="1200" b="0" dirty="0">
                <a:solidFill>
                  <a:srgbClr val="B2C4BB"/>
                </a:solidFill>
                <a:latin typeface="Aptos"/>
              </a:rPr>
              <a:t>, </a:t>
            </a:r>
            <a:r>
              <a:rPr sz="1200" b="0" dirty="0" err="1">
                <a:solidFill>
                  <a:srgbClr val="B2C4BB"/>
                </a:solidFill>
                <a:latin typeface="Aptos"/>
              </a:rPr>
              <a:t>когда</a:t>
            </a:r>
            <a:r>
              <a:rPr sz="1200" b="0" dirty="0">
                <a:solidFill>
                  <a:srgbClr val="B2C4BB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B2C4BB"/>
                </a:solidFill>
                <a:latin typeface="Aptos"/>
              </a:rPr>
              <a:t>задача</a:t>
            </a:r>
            <a:r>
              <a:rPr sz="1200" b="0" dirty="0">
                <a:solidFill>
                  <a:srgbClr val="B2C4BB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B2C4BB"/>
                </a:solidFill>
                <a:latin typeface="Aptos"/>
              </a:rPr>
              <a:t>не</a:t>
            </a:r>
            <a:r>
              <a:rPr sz="1200" b="0" dirty="0">
                <a:solidFill>
                  <a:srgbClr val="B2C4BB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B2C4BB"/>
                </a:solidFill>
                <a:latin typeface="Aptos"/>
              </a:rPr>
              <a:t>даёт</a:t>
            </a:r>
            <a:r>
              <a:rPr sz="1200" b="0" dirty="0">
                <a:solidFill>
                  <a:srgbClr val="B2C4BB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B2C4BB"/>
                </a:solidFill>
                <a:latin typeface="Aptos"/>
              </a:rPr>
              <a:t>ощущения</a:t>
            </a:r>
            <a:r>
              <a:rPr sz="1200" b="0" dirty="0">
                <a:solidFill>
                  <a:srgbClr val="B2C4BB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B2C4BB"/>
                </a:solidFill>
                <a:latin typeface="Aptos"/>
              </a:rPr>
              <a:t>прогресса</a:t>
            </a:r>
            <a:r>
              <a:rPr sz="1200" b="0" dirty="0">
                <a:solidFill>
                  <a:srgbClr val="B2C4BB"/>
                </a:solidFill>
                <a:latin typeface="Aptos"/>
              </a:rPr>
              <a:t> и </a:t>
            </a:r>
            <a:r>
              <a:rPr sz="1200" b="0" dirty="0" err="1">
                <a:solidFill>
                  <a:srgbClr val="B2C4BB"/>
                </a:solidFill>
                <a:latin typeface="Aptos"/>
              </a:rPr>
              <a:t>награды</a:t>
            </a:r>
            <a:endParaRPr sz="1200" b="0" dirty="0">
              <a:solidFill>
                <a:srgbClr val="B2C4BB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5800" y="3557016"/>
            <a:ext cx="10835640" cy="841248"/>
          </a:xfrm>
          <a:prstGeom prst="roundRect">
            <a:avLst>
              <a:gd name="adj" fmla="val 12000"/>
            </a:avLst>
          </a:prstGeom>
          <a:solidFill>
            <a:srgbClr val="0E3026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3767328"/>
            <a:ext cx="393192" cy="393192"/>
          </a:xfrm>
          <a:prstGeom prst="ellipse">
            <a:avLst/>
          </a:prstGeom>
          <a:solidFill>
            <a:srgbClr val="E25B5B"/>
          </a:solidFill>
          <a:ln w="12700">
            <a:solidFill>
              <a:srgbClr val="E2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81328" y="3657600"/>
            <a:ext cx="182880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7F4EA"/>
                </a:solidFill>
                <a:latin typeface="Aptos"/>
              </a:rPr>
              <a:t>Списки без эмоций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6624" y="3689699"/>
            <a:ext cx="8092440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 dirty="0" err="1">
                <a:solidFill>
                  <a:srgbClr val="B2C4BB"/>
                </a:solidFill>
                <a:latin typeface="Aptos"/>
              </a:rPr>
              <a:t>существующие</a:t>
            </a:r>
            <a:r>
              <a:rPr sz="1200" b="0" dirty="0">
                <a:solidFill>
                  <a:srgbClr val="B2C4BB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B2C4BB"/>
                </a:solidFill>
                <a:latin typeface="Aptos"/>
              </a:rPr>
              <a:t>трекеры</a:t>
            </a:r>
            <a:r>
              <a:rPr sz="1200" b="0" dirty="0">
                <a:solidFill>
                  <a:srgbClr val="B2C4BB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B2C4BB"/>
                </a:solidFill>
                <a:latin typeface="Aptos"/>
              </a:rPr>
              <a:t>решают</a:t>
            </a:r>
            <a:r>
              <a:rPr sz="1200" b="0" dirty="0">
                <a:solidFill>
                  <a:srgbClr val="B2C4BB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B2C4BB"/>
                </a:solidFill>
                <a:latin typeface="Aptos"/>
              </a:rPr>
              <a:t>учёт</a:t>
            </a:r>
            <a:r>
              <a:rPr sz="1200" b="0" dirty="0">
                <a:solidFill>
                  <a:srgbClr val="B2C4BB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B2C4BB"/>
                </a:solidFill>
                <a:latin typeface="Aptos"/>
              </a:rPr>
              <a:t>задач</a:t>
            </a:r>
            <a:r>
              <a:rPr sz="1200" b="0" dirty="0">
                <a:solidFill>
                  <a:srgbClr val="B2C4BB"/>
                </a:solidFill>
                <a:latin typeface="Aptos"/>
              </a:rPr>
              <a:t>, </a:t>
            </a:r>
            <a:r>
              <a:rPr sz="1200" b="0" dirty="0" err="1">
                <a:solidFill>
                  <a:srgbClr val="B2C4BB"/>
                </a:solidFill>
                <a:latin typeface="Aptos"/>
              </a:rPr>
              <a:t>но</a:t>
            </a:r>
            <a:r>
              <a:rPr sz="1200" b="0" dirty="0">
                <a:solidFill>
                  <a:srgbClr val="B2C4BB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B2C4BB"/>
                </a:solidFill>
                <a:latin typeface="Aptos"/>
              </a:rPr>
              <a:t>не</a:t>
            </a:r>
            <a:r>
              <a:rPr sz="1200" b="0" dirty="0">
                <a:solidFill>
                  <a:srgbClr val="B2C4BB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B2C4BB"/>
                </a:solidFill>
                <a:latin typeface="Aptos"/>
              </a:rPr>
              <a:t>строят</a:t>
            </a:r>
            <a:r>
              <a:rPr sz="1200" b="0" dirty="0">
                <a:solidFill>
                  <a:srgbClr val="B2C4BB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B2C4BB"/>
                </a:solidFill>
                <a:latin typeface="Aptos"/>
              </a:rPr>
              <a:t>игровой</a:t>
            </a:r>
            <a:r>
              <a:rPr sz="1200" b="0" dirty="0">
                <a:solidFill>
                  <a:srgbClr val="B2C4BB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B2C4BB"/>
                </a:solidFill>
                <a:latin typeface="Aptos"/>
              </a:rPr>
              <a:t>контур</a:t>
            </a:r>
            <a:r>
              <a:rPr sz="1200" b="0" dirty="0">
                <a:solidFill>
                  <a:srgbClr val="B2C4BB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B2C4BB"/>
                </a:solidFill>
                <a:latin typeface="Aptos"/>
              </a:rPr>
              <a:t>мотивации</a:t>
            </a:r>
            <a:endParaRPr sz="1200" b="0" dirty="0">
              <a:solidFill>
                <a:srgbClr val="B2C4BB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85800" y="4581144"/>
            <a:ext cx="10835640" cy="841248"/>
          </a:xfrm>
          <a:prstGeom prst="roundRect">
            <a:avLst>
              <a:gd name="adj" fmla="val 12000"/>
            </a:avLst>
          </a:prstGeom>
          <a:solidFill>
            <a:srgbClr val="0E3026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4791456"/>
            <a:ext cx="393192" cy="393192"/>
          </a:xfrm>
          <a:prstGeom prst="ellipse">
            <a:avLst/>
          </a:prstGeom>
          <a:solidFill>
            <a:srgbClr val="E25B5B"/>
          </a:solidFill>
          <a:ln w="12700">
            <a:solidFill>
              <a:srgbClr val="E2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81328" y="4681728"/>
            <a:ext cx="182880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7F4EA"/>
                </a:solidFill>
                <a:latin typeface="Aptos"/>
              </a:rPr>
              <a:t>Нет причины вернуться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6624" y="4712520"/>
            <a:ext cx="8092440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B2C4BB"/>
                </a:solidFill>
                <a:latin typeface="Aptos"/>
              </a:rPr>
              <a:t>не хватает ежедневного ритуала и видимого развития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938358"/>
            <a:ext cx="4086055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 dirty="0">
                <a:solidFill>
                  <a:srgbClr val="F5A623"/>
                </a:solidFill>
                <a:latin typeface="Aptos"/>
              </a:rPr>
              <a:t>*67% — </a:t>
            </a:r>
            <a:r>
              <a:rPr sz="900" b="0" dirty="0" err="1">
                <a:solidFill>
                  <a:srgbClr val="F5A623"/>
                </a:solidFill>
                <a:latin typeface="Aptos"/>
              </a:rPr>
              <a:t>цифра</a:t>
            </a:r>
            <a:r>
              <a:rPr sz="900" b="0" dirty="0">
                <a:solidFill>
                  <a:srgbClr val="F5A623"/>
                </a:solidFill>
                <a:latin typeface="Aptos"/>
              </a:rPr>
              <a:t> </a:t>
            </a:r>
            <a:r>
              <a:rPr sz="900" b="0" dirty="0" err="1">
                <a:solidFill>
                  <a:srgbClr val="F5A623"/>
                </a:solidFill>
                <a:latin typeface="Aptos"/>
              </a:rPr>
              <a:t>из</a:t>
            </a:r>
            <a:r>
              <a:rPr sz="900" b="0" dirty="0">
                <a:solidFill>
                  <a:srgbClr val="F5A623"/>
                </a:solidFill>
                <a:latin typeface="Aptos"/>
              </a:rPr>
              <a:t> </a:t>
            </a:r>
            <a:r>
              <a:rPr sz="900" b="0" dirty="0" err="1">
                <a:solidFill>
                  <a:srgbClr val="F5A623"/>
                </a:solidFill>
                <a:latin typeface="Aptos"/>
              </a:rPr>
              <a:t>исходного</a:t>
            </a:r>
            <a:r>
              <a:rPr sz="900" b="0" dirty="0">
                <a:solidFill>
                  <a:srgbClr val="F5A623"/>
                </a:solidFill>
                <a:latin typeface="Aptos"/>
              </a:rPr>
              <a:t> </a:t>
            </a:r>
            <a:r>
              <a:rPr sz="900" b="0" dirty="0" err="1" smtClean="0">
                <a:solidFill>
                  <a:srgbClr val="F5A623"/>
                </a:solidFill>
                <a:latin typeface="Aptos"/>
              </a:rPr>
              <a:t>концепта</a:t>
            </a:r>
            <a:r>
              <a:rPr lang="ru-RU" sz="900" dirty="0" smtClean="0">
                <a:solidFill>
                  <a:srgbClr val="F5A623"/>
                </a:solidFill>
                <a:latin typeface="Aptos"/>
              </a:rPr>
              <a:t>, является приблизительной оценкой</a:t>
            </a:r>
            <a:r>
              <a:rPr sz="900" b="0" dirty="0" smtClean="0">
                <a:solidFill>
                  <a:srgbClr val="F5A623"/>
                </a:solidFill>
                <a:latin typeface="Aptos"/>
              </a:rPr>
              <a:t>.</a:t>
            </a:r>
            <a:endParaRPr sz="900" b="0" dirty="0">
              <a:solidFill>
                <a:srgbClr val="F5A623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4360" y="6540412"/>
            <a:ext cx="1213474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800" dirty="0" smtClean="0">
                <a:solidFill>
                  <a:srgbClr val="B2C4BB"/>
                </a:solidFill>
                <a:latin typeface="Aptos"/>
              </a:rPr>
              <a:t>Task </a:t>
            </a:r>
            <a:r>
              <a:rPr lang="en-US" sz="800" dirty="0" err="1" smtClean="0">
                <a:solidFill>
                  <a:srgbClr val="B2C4BB"/>
                </a:solidFill>
                <a:latin typeface="Aptos"/>
              </a:rPr>
              <a:t>Wyrm</a:t>
            </a:r>
            <a:r>
              <a:rPr sz="800" b="0" dirty="0" smtClean="0">
                <a:solidFill>
                  <a:srgbClr val="B2C4BB"/>
                </a:solidFill>
                <a:latin typeface="Aptos"/>
              </a:rPr>
              <a:t>  </a:t>
            </a:r>
            <a:r>
              <a:rPr sz="800" b="0" dirty="0">
                <a:solidFill>
                  <a:srgbClr val="B2C4BB"/>
                </a:solidFill>
                <a:latin typeface="Aptos"/>
              </a:rPr>
              <a:t>•  Confidential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Aptos"/>
              </a:rPr>
              <a:t>WYRMLING ПРЕВРАЩАЕТ РУТИНУ В ПРИКЛЮЧЕНИЕ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7F4EA"/>
                </a:solidFill>
                <a:latin typeface="Aptos"/>
              </a:rPr>
              <a:t>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B2C4BB"/>
                </a:solidFill>
                <a:latin typeface="Aptos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246120" cy="1828800"/>
          </a:xfrm>
          <a:prstGeom prst="roundRect">
            <a:avLst>
              <a:gd name="adj" fmla="val 12000"/>
            </a:avLst>
          </a:prstGeom>
          <a:solidFill>
            <a:srgbClr val="0E3026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10512"/>
            <a:ext cx="50292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12848"/>
            <a:ext cx="256032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7F4EA"/>
                </a:solidFill>
                <a:latin typeface="Aptos"/>
              </a:rPr>
              <a:t>Задача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70048"/>
            <a:ext cx="269748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B2C4BB"/>
                </a:solidFill>
                <a:latin typeface="Aptos"/>
              </a:rPr>
              <a:t>Добавили задачу → получили понятную цель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1648" y="2267712"/>
            <a:ext cx="32004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600200"/>
            <a:ext cx="3246120" cy="1828800"/>
          </a:xfrm>
          <a:prstGeom prst="roundRect">
            <a:avLst>
              <a:gd name="adj" fmla="val 12000"/>
            </a:avLst>
          </a:prstGeom>
          <a:solidFill>
            <a:srgbClr val="0E3026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59" y="1810512"/>
            <a:ext cx="50292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212848"/>
            <a:ext cx="256032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7F4EA"/>
                </a:solidFill>
                <a:latin typeface="Aptos"/>
              </a:rPr>
              <a:t>Действие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670048"/>
            <a:ext cx="269748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B2C4BB"/>
                </a:solidFill>
                <a:latin typeface="Aptos"/>
              </a:rPr>
              <a:t>Выполнили → получили XP и золото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2267712"/>
            <a:ext cx="32004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600200"/>
            <a:ext cx="3246120" cy="1828800"/>
          </a:xfrm>
          <a:prstGeom prst="roundRect">
            <a:avLst>
              <a:gd name="adj" fmla="val 12000"/>
            </a:avLst>
          </a:prstGeom>
          <a:solidFill>
            <a:srgbClr val="0E3026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1810512"/>
            <a:ext cx="50292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212848"/>
            <a:ext cx="256032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7F4EA"/>
                </a:solidFill>
                <a:latin typeface="Aptos"/>
              </a:rPr>
              <a:t>Рост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752231"/>
            <a:ext cx="2691882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dirty="0" err="1">
                <a:solidFill>
                  <a:srgbClr val="B2C4BB"/>
                </a:solidFill>
                <a:latin typeface="Aptos"/>
              </a:rPr>
              <a:t>Дракон</a:t>
            </a:r>
            <a:r>
              <a:rPr sz="1100" b="0" dirty="0">
                <a:solidFill>
                  <a:srgbClr val="B2C4BB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B2C4BB"/>
                </a:solidFill>
                <a:latin typeface="Aptos"/>
              </a:rPr>
              <a:t>развивается</a:t>
            </a:r>
            <a:r>
              <a:rPr sz="1100" b="0" dirty="0">
                <a:solidFill>
                  <a:srgbClr val="B2C4BB"/>
                </a:solidFill>
                <a:latin typeface="Aptos"/>
              </a:rPr>
              <a:t> → </a:t>
            </a:r>
            <a:r>
              <a:rPr sz="1100" b="0" dirty="0" err="1">
                <a:solidFill>
                  <a:srgbClr val="B2C4BB"/>
                </a:solidFill>
                <a:latin typeface="Aptos"/>
              </a:rPr>
              <a:t>появляется</a:t>
            </a:r>
            <a:r>
              <a:rPr sz="1100" b="0" dirty="0">
                <a:solidFill>
                  <a:srgbClr val="B2C4BB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B2C4BB"/>
                </a:solidFill>
                <a:latin typeface="Aptos"/>
              </a:rPr>
              <a:t>желание</a:t>
            </a:r>
            <a:r>
              <a:rPr sz="1100" b="0" dirty="0">
                <a:solidFill>
                  <a:srgbClr val="B2C4BB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B2C4BB"/>
                </a:solidFill>
                <a:latin typeface="Aptos"/>
              </a:rPr>
              <a:t>вернуться</a:t>
            </a:r>
            <a:endParaRPr sz="1100" b="0" dirty="0">
              <a:solidFill>
                <a:srgbClr val="B2C4BB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1520" y="3886200"/>
            <a:ext cx="27432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7F4EA"/>
                </a:solidFill>
                <a:latin typeface="Aptos"/>
              </a:rPr>
              <a:t>5 стадий эволюции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4480560"/>
            <a:ext cx="658368" cy="658368"/>
          </a:xfrm>
          <a:prstGeom prst="ellipse">
            <a:avLst/>
          </a:prstGeom>
          <a:solidFill>
            <a:srgbClr val="144133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645152"/>
            <a:ext cx="6583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5A623"/>
                </a:solidFill>
                <a:latin typeface="Apto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230368"/>
            <a:ext cx="12801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7F4EA"/>
                </a:solidFill>
                <a:latin typeface="Aptos"/>
              </a:rPr>
              <a:t>Яйцо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554480" y="4809744"/>
            <a:ext cx="1371600" cy="0"/>
          </a:xfrm>
          <a:prstGeom prst="line">
            <a:avLst/>
          </a:prstGeom>
          <a:ln w="1651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063239" y="4480560"/>
            <a:ext cx="658368" cy="658368"/>
          </a:xfrm>
          <a:prstGeom prst="ellipse">
            <a:avLst/>
          </a:prstGeom>
          <a:solidFill>
            <a:srgbClr val="144133"/>
          </a:solidFill>
          <a:ln w="25400"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63239" y="4645152"/>
            <a:ext cx="6583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2C4BB"/>
                </a:solidFill>
                <a:latin typeface="Apto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199" y="5230368"/>
            <a:ext cx="12801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7F4EA"/>
                </a:solidFill>
                <a:latin typeface="Aptos"/>
              </a:rPr>
              <a:t>Wyrmling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749039" y="4809744"/>
            <a:ext cx="1371601" cy="0"/>
          </a:xfrm>
          <a:prstGeom prst="line">
            <a:avLst/>
          </a:prstGeom>
          <a:ln w="1651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257800" y="4480560"/>
            <a:ext cx="658368" cy="658368"/>
          </a:xfrm>
          <a:prstGeom prst="ellipse">
            <a:avLst/>
          </a:prstGeom>
          <a:solidFill>
            <a:srgbClr val="144133"/>
          </a:solidFill>
          <a:ln w="25400"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57800" y="4645152"/>
            <a:ext cx="6583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2C4BB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230368"/>
            <a:ext cx="12801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7F4EA"/>
                </a:solidFill>
                <a:latin typeface="Aptos"/>
              </a:rPr>
              <a:t>Drake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43600" y="4809744"/>
            <a:ext cx="1371600" cy="0"/>
          </a:xfrm>
          <a:prstGeom prst="line">
            <a:avLst/>
          </a:prstGeom>
          <a:ln w="1651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452359" y="4480560"/>
            <a:ext cx="658368" cy="658368"/>
          </a:xfrm>
          <a:prstGeom prst="ellipse">
            <a:avLst/>
          </a:prstGeom>
          <a:solidFill>
            <a:srgbClr val="144133"/>
          </a:solidFill>
          <a:ln w="25400"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52359" y="4645152"/>
            <a:ext cx="6583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2C4BB"/>
                </a:solidFill>
                <a:latin typeface="Apto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19" y="5230368"/>
            <a:ext cx="12801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7F4EA"/>
                </a:solidFill>
                <a:latin typeface="Aptos"/>
              </a:rPr>
              <a:t>Wyrm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138159" y="4809744"/>
            <a:ext cx="1371600" cy="0"/>
          </a:xfrm>
          <a:prstGeom prst="line">
            <a:avLst/>
          </a:prstGeom>
          <a:ln w="1651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9646919" y="4480560"/>
            <a:ext cx="658368" cy="658368"/>
          </a:xfrm>
          <a:prstGeom prst="ellipse">
            <a:avLst/>
          </a:prstGeom>
          <a:solidFill>
            <a:srgbClr val="144133"/>
          </a:solidFill>
          <a:ln w="25400"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46919" y="4645152"/>
            <a:ext cx="6583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2C4BB"/>
                </a:solidFill>
                <a:latin typeface="Apto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5230368"/>
            <a:ext cx="12801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7F4EA"/>
                </a:solidFill>
                <a:latin typeface="Aptos"/>
              </a:rPr>
              <a:t>Elder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715000"/>
            <a:ext cx="10698480" cy="475488"/>
          </a:xfrm>
          <a:prstGeom prst="roundRect">
            <a:avLst>
              <a:gd name="adj" fmla="val 12000"/>
            </a:avLst>
          </a:prstGeom>
          <a:solidFill>
            <a:srgbClr val="164939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0120" y="5769864"/>
            <a:ext cx="1024128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5A623"/>
                </a:solidFill>
                <a:latin typeface="Aptos"/>
              </a:rPr>
              <a:t>ИИ-помощник  </a:t>
            </a:r>
            <a:r>
              <a:rPr sz="1000" b="0">
                <a:solidFill>
                  <a:srgbClr val="F7F4EA"/>
                </a:solidFill>
                <a:latin typeface="Aptos"/>
              </a:rPr>
              <a:t>адаптирует нагрузку под ритм пользователя и мягко возвращает к работе.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40412"/>
            <a:ext cx="1213474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800" dirty="0" smtClean="0">
                <a:solidFill>
                  <a:srgbClr val="B2C4BB"/>
                </a:solidFill>
                <a:latin typeface="Aptos"/>
              </a:rPr>
              <a:t>Task </a:t>
            </a:r>
            <a:r>
              <a:rPr lang="en-US" sz="800" dirty="0" err="1" smtClean="0">
                <a:solidFill>
                  <a:srgbClr val="B2C4BB"/>
                </a:solidFill>
                <a:latin typeface="Aptos"/>
              </a:rPr>
              <a:t>Wyrm</a:t>
            </a:r>
            <a:r>
              <a:rPr sz="800" b="0" dirty="0" smtClean="0">
                <a:solidFill>
                  <a:srgbClr val="B2C4BB"/>
                </a:solidFill>
                <a:latin typeface="Aptos"/>
              </a:rPr>
              <a:t>  </a:t>
            </a:r>
            <a:r>
              <a:rPr sz="800" b="0" dirty="0">
                <a:solidFill>
                  <a:srgbClr val="B2C4BB"/>
                </a:solidFill>
                <a:latin typeface="Aptos"/>
              </a:rPr>
              <a:t>•  Confidential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Aptos"/>
              </a:rPr>
              <a:t>MVP: ИНТЕРФЕЙС УЖЕ МОЖНО ПОКАЗАТЬ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7F4EA"/>
                </a:solidFill>
                <a:latin typeface="Aptos"/>
              </a:rPr>
              <a:t>Продукт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B2C4BB"/>
                </a:solidFill>
                <a:latin typeface="Aptos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98448"/>
            <a:ext cx="3886200" cy="4892040"/>
          </a:xfrm>
          <a:prstGeom prst="roundRect">
            <a:avLst>
              <a:gd name="adj" fmla="val 12000"/>
            </a:avLst>
          </a:prstGeom>
          <a:solidFill>
            <a:srgbClr val="F0F2EF"/>
          </a:solidFill>
          <a:ln>
            <a:solidFill>
              <a:srgbClr val="7891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83480" y="1417320"/>
            <a:ext cx="45720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  <a:latin typeface="Aptos"/>
              </a:rPr>
              <a:t>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1417320"/>
            <a:ext cx="18288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7F4EA"/>
                </a:solidFill>
                <a:latin typeface="Aptos"/>
              </a:rPr>
              <a:t>Дракон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1764792"/>
            <a:ext cx="516636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B2C4BB"/>
                </a:solidFill>
                <a:latin typeface="Aptos"/>
              </a:rPr>
              <a:t>визуальный якорь прогресса и эволюции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2496312"/>
            <a:ext cx="45720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2496312"/>
            <a:ext cx="18288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7F4EA"/>
                </a:solidFill>
                <a:latin typeface="Aptos"/>
              </a:rPr>
              <a:t>Задачи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843784"/>
            <a:ext cx="516636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B2C4BB"/>
                </a:solidFill>
                <a:latin typeface="Aptos"/>
              </a:rPr>
              <a:t>цикл «задача → действие → награда»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3575304"/>
            <a:ext cx="45720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  <a:latin typeface="Aptos"/>
              </a:rPr>
              <a:t>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3575304"/>
            <a:ext cx="18288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7F4EA"/>
                </a:solidFill>
                <a:latin typeface="Aptos"/>
              </a:rPr>
              <a:t>Прогресс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3922776"/>
            <a:ext cx="516636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B2C4BB"/>
                </a:solidFill>
                <a:latin typeface="Aptos"/>
              </a:rPr>
              <a:t>XP, уровень, серия активности и следующая стадия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4654296"/>
            <a:ext cx="45720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  <a:latin typeface="Aptos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4654296"/>
            <a:ext cx="18288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7F4EA"/>
                </a:solidFill>
                <a:latin typeface="Aptos"/>
              </a:rPr>
              <a:t>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5001768"/>
            <a:ext cx="516636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B2C4BB"/>
                </a:solidFill>
                <a:latin typeface="Aptos"/>
              </a:rPr>
              <a:t>подсказки, адаптация нагрузки и мягкие возвращения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5715000"/>
            <a:ext cx="6035040" cy="438912"/>
          </a:xfrm>
          <a:prstGeom prst="roundRect">
            <a:avLst>
              <a:gd name="adj" fmla="val 12000"/>
            </a:avLst>
          </a:prstGeom>
          <a:solidFill>
            <a:srgbClr val="0E3026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38928" y="5837774"/>
            <a:ext cx="2290692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dirty="0" err="1">
                <a:solidFill>
                  <a:srgbClr val="B2C4BB"/>
                </a:solidFill>
                <a:latin typeface="Aptos"/>
              </a:rPr>
              <a:t>Стек</a:t>
            </a:r>
            <a:r>
              <a:rPr sz="900" b="1" dirty="0">
                <a:solidFill>
                  <a:srgbClr val="B2C4BB"/>
                </a:solidFill>
                <a:latin typeface="Aptos"/>
              </a:rPr>
              <a:t>: Flutter / React Native • AI API • </a:t>
            </a:r>
            <a:r>
              <a:rPr sz="900" b="1" dirty="0" smtClean="0">
                <a:solidFill>
                  <a:srgbClr val="B2C4BB"/>
                </a:solidFill>
                <a:latin typeface="Aptos"/>
              </a:rPr>
              <a:t>local</a:t>
            </a:r>
            <a:endParaRPr sz="900" b="1" dirty="0">
              <a:solidFill>
                <a:srgbClr val="B2C4BB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6540412"/>
            <a:ext cx="1213474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800" dirty="0" smtClean="0">
                <a:solidFill>
                  <a:srgbClr val="B2C4BB"/>
                </a:solidFill>
                <a:latin typeface="Aptos"/>
              </a:rPr>
              <a:t>Task </a:t>
            </a:r>
            <a:r>
              <a:rPr lang="en-US" sz="800" dirty="0" err="1" smtClean="0">
                <a:solidFill>
                  <a:srgbClr val="B2C4BB"/>
                </a:solidFill>
                <a:latin typeface="Aptos"/>
              </a:rPr>
              <a:t>Wyrm</a:t>
            </a:r>
            <a:r>
              <a:rPr sz="800" b="0" dirty="0" smtClean="0">
                <a:solidFill>
                  <a:srgbClr val="B2C4BB"/>
                </a:solidFill>
                <a:latin typeface="Aptos"/>
              </a:rPr>
              <a:t>  </a:t>
            </a:r>
            <a:r>
              <a:rPr sz="800" b="0" dirty="0">
                <a:solidFill>
                  <a:srgbClr val="B2C4BB"/>
                </a:solidFill>
                <a:latin typeface="Aptos"/>
              </a:rPr>
              <a:t>•  Confidential</a:t>
            </a:r>
          </a:p>
        </p:txBody>
      </p:sp>
      <p:pic>
        <p:nvPicPr>
          <p:cNvPr id="29" name="Рисунок 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346" y="1401140"/>
            <a:ext cx="2636244" cy="46866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Aptos"/>
              </a:rPr>
              <a:t>БОЛЬШОЙ РЫНОК ПРОДУКТИВНОСТИ, УЗКИЙ ФОКУС НА МОТИВАЦИИ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7F4EA"/>
                </a:solidFill>
                <a:latin typeface="Aptos"/>
              </a:rPr>
              <a:t>Рынок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B2C4BB"/>
                </a:solidFill>
                <a:latin typeface="Aptos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37560" cy="1572768"/>
          </a:xfrm>
          <a:prstGeom prst="roundRect">
            <a:avLst>
              <a:gd name="adj" fmla="val 12000"/>
            </a:avLst>
          </a:prstGeom>
          <a:solidFill>
            <a:srgbClr val="0E3026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641011"/>
            <a:ext cx="1367362" cy="3847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2500" b="1" dirty="0" smtClean="0">
                <a:solidFill>
                  <a:srgbClr val="FFC654"/>
                </a:solidFill>
                <a:latin typeface="Aptos"/>
              </a:rPr>
              <a:t>45</a:t>
            </a:r>
            <a:r>
              <a:rPr lang="ru-RU" sz="2500" b="1" dirty="0" smtClean="0">
                <a:solidFill>
                  <a:srgbClr val="FFC654"/>
                </a:solidFill>
                <a:latin typeface="Aptos"/>
              </a:rPr>
              <a:t> млрд.</a:t>
            </a:r>
            <a:endParaRPr sz="2500" b="1" dirty="0">
              <a:solidFill>
                <a:srgbClr val="FFC654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6968" y="2057400"/>
            <a:ext cx="283464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7F4EA"/>
                </a:solidFill>
                <a:latin typeface="Aptos"/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95728"/>
            <a:ext cx="283464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B2C4BB"/>
                </a:solidFill>
                <a:latin typeface="Aptos"/>
              </a:rPr>
              <a:t>глобальный рынок productivity apps*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572768"/>
          </a:xfrm>
          <a:prstGeom prst="roundRect">
            <a:avLst>
              <a:gd name="adj" fmla="val 12000"/>
            </a:avLst>
          </a:prstGeom>
          <a:solidFill>
            <a:srgbClr val="0E3026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7" y="1641011"/>
            <a:ext cx="1367362" cy="3847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ru-RU" sz="2500" b="1" dirty="0" smtClean="0">
                <a:solidFill>
                  <a:srgbClr val="FFC654"/>
                </a:solidFill>
                <a:latin typeface="Aptos"/>
              </a:rPr>
              <a:t>22 млрд.</a:t>
            </a:r>
            <a:endParaRPr sz="2500" b="1" dirty="0">
              <a:solidFill>
                <a:srgbClr val="FFC654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36007" y="2057400"/>
            <a:ext cx="283464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7F4EA"/>
                </a:solidFill>
                <a:latin typeface="Aptos"/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510640"/>
            <a:ext cx="2921789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dirty="0" err="1">
                <a:solidFill>
                  <a:srgbClr val="B2C4BB"/>
                </a:solidFill>
                <a:latin typeface="Aptos"/>
              </a:rPr>
              <a:t>русскоязычный</a:t>
            </a:r>
            <a:r>
              <a:rPr sz="900" b="0" dirty="0">
                <a:solidFill>
                  <a:srgbClr val="B2C4BB"/>
                </a:solidFill>
                <a:latin typeface="Aptos"/>
              </a:rPr>
              <a:t> </a:t>
            </a:r>
            <a:r>
              <a:rPr sz="900" b="0" dirty="0" err="1">
                <a:solidFill>
                  <a:srgbClr val="B2C4BB"/>
                </a:solidFill>
                <a:latin typeface="Aptos"/>
              </a:rPr>
              <a:t>сегмент</a:t>
            </a:r>
            <a:r>
              <a:rPr sz="900" b="0" dirty="0">
                <a:solidFill>
                  <a:srgbClr val="B2C4BB"/>
                </a:solidFill>
                <a:latin typeface="Aptos"/>
              </a:rPr>
              <a:t> + </a:t>
            </a:r>
            <a:r>
              <a:rPr sz="900" b="0" dirty="0" smtClean="0">
                <a:solidFill>
                  <a:srgbClr val="B2C4BB"/>
                </a:solidFill>
                <a:latin typeface="Aptos"/>
              </a:rPr>
              <a:t>СНГ</a:t>
            </a:r>
            <a:r>
              <a:rPr lang="ru-RU" sz="900" b="0" dirty="0" smtClean="0">
                <a:solidFill>
                  <a:srgbClr val="B2C4BB"/>
                </a:solidFill>
                <a:latin typeface="Aptos"/>
              </a:rPr>
              <a:t> (весь рынок платформ для планирования задач)</a:t>
            </a:r>
            <a:endParaRPr sz="900" b="0" dirty="0">
              <a:solidFill>
                <a:srgbClr val="B2C4BB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337560" cy="1572768"/>
          </a:xfrm>
          <a:prstGeom prst="roundRect">
            <a:avLst>
              <a:gd name="adj" fmla="val 12000"/>
            </a:avLst>
          </a:prstGeom>
          <a:solidFill>
            <a:srgbClr val="0E3026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85048" y="1641011"/>
            <a:ext cx="1348126" cy="3847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ru-RU" sz="2500" b="1" dirty="0" smtClean="0">
                <a:solidFill>
                  <a:srgbClr val="FFC654"/>
                </a:solidFill>
                <a:latin typeface="Aptos"/>
              </a:rPr>
              <a:t>243 млн.</a:t>
            </a:r>
            <a:endParaRPr sz="2500" b="1" dirty="0">
              <a:solidFill>
                <a:srgbClr val="FFC654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85048" y="2057400"/>
            <a:ext cx="283464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7F4EA"/>
                </a:solidFill>
                <a:latin typeface="Aptos"/>
              </a:rPr>
              <a:t>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395728"/>
            <a:ext cx="283464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B2C4BB"/>
                </a:solidFill>
                <a:latin typeface="Aptos"/>
              </a:rPr>
              <a:t>цель из концепта: 1% SAM за 3 года*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401568"/>
            <a:ext cx="27432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7F4EA"/>
                </a:solidFill>
                <a:latin typeface="Aptos"/>
              </a:rPr>
              <a:t>Целевая аудитория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886200"/>
            <a:ext cx="2743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B2C4BB"/>
                </a:solidFill>
                <a:latin typeface="Aptos"/>
              </a:rPr>
              <a:t>Студенты 18–25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3904487"/>
            <a:ext cx="5852160" cy="201168"/>
          </a:xfrm>
          <a:prstGeom prst="roundRect">
            <a:avLst>
              <a:gd name="adj" fmla="val 12000"/>
            </a:avLst>
          </a:prstGeom>
          <a:solidFill>
            <a:srgbClr val="1C3D32"/>
          </a:solidFill>
          <a:ln>
            <a:solidFill>
              <a:srgbClr val="1C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429000" y="3904487"/>
            <a:ext cx="5852160" cy="201168"/>
          </a:xfrm>
          <a:prstGeom prst="roundRect">
            <a:avLst>
              <a:gd name="adj" fmla="val 12000"/>
            </a:avLst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55480" y="3867912"/>
            <a:ext cx="64008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F7F4EA"/>
                </a:solidFill>
                <a:latin typeface="Aptos"/>
              </a:rPr>
              <a:t>40%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498848"/>
            <a:ext cx="2743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B2C4BB"/>
                </a:solidFill>
                <a:latin typeface="Aptos"/>
              </a:rPr>
              <a:t>Фрилансеры 25–35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0" y="4517136"/>
            <a:ext cx="5852160" cy="201168"/>
          </a:xfrm>
          <a:prstGeom prst="roundRect">
            <a:avLst>
              <a:gd name="adj" fmla="val 12000"/>
            </a:avLst>
          </a:prstGeom>
          <a:solidFill>
            <a:srgbClr val="1C3D32"/>
          </a:solidFill>
          <a:ln>
            <a:solidFill>
              <a:srgbClr val="1C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429000" y="4517136"/>
            <a:ext cx="5120640" cy="201168"/>
          </a:xfrm>
          <a:prstGeom prst="roundRect">
            <a:avLst>
              <a:gd name="adj" fmla="val 12000"/>
            </a:avLst>
          </a:prstGeom>
          <a:solidFill>
            <a:srgbClr val="239167"/>
          </a:solidFill>
          <a:ln>
            <a:solidFill>
              <a:srgbClr val="23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55480" y="4480560"/>
            <a:ext cx="64008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F7F4EA"/>
                </a:solidFill>
                <a:latin typeface="Aptos"/>
              </a:rPr>
              <a:t>35%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111496"/>
            <a:ext cx="2743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B2C4BB"/>
                </a:solidFill>
                <a:latin typeface="Aptos"/>
              </a:rPr>
              <a:t>Молодые специалисты 22–30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5129783"/>
            <a:ext cx="5852160" cy="201168"/>
          </a:xfrm>
          <a:prstGeom prst="roundRect">
            <a:avLst>
              <a:gd name="adj" fmla="val 12000"/>
            </a:avLst>
          </a:prstGeom>
          <a:solidFill>
            <a:srgbClr val="1C3D32"/>
          </a:solidFill>
          <a:ln>
            <a:solidFill>
              <a:srgbClr val="1C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429000" y="5129783"/>
            <a:ext cx="3657600" cy="201168"/>
          </a:xfrm>
          <a:prstGeom prst="roundRect">
            <a:avLst>
              <a:gd name="adj" fmla="val 12000"/>
            </a:avLst>
          </a:prstGeom>
          <a:solidFill>
            <a:srgbClr val="239167"/>
          </a:solidFill>
          <a:ln>
            <a:solidFill>
              <a:srgbClr val="23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55480" y="5093208"/>
            <a:ext cx="64008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F7F4EA"/>
                </a:solidFill>
                <a:latin typeface="Aptos"/>
              </a:rPr>
              <a:t>25%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40412"/>
            <a:ext cx="1213474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800" dirty="0" smtClean="0">
                <a:solidFill>
                  <a:srgbClr val="B2C4BB"/>
                </a:solidFill>
                <a:latin typeface="Aptos"/>
              </a:rPr>
              <a:t>Task </a:t>
            </a:r>
            <a:r>
              <a:rPr lang="en-US" sz="800" dirty="0" err="1" smtClean="0">
                <a:solidFill>
                  <a:srgbClr val="B2C4BB"/>
                </a:solidFill>
                <a:latin typeface="Aptos"/>
              </a:rPr>
              <a:t>Wyrm</a:t>
            </a:r>
            <a:r>
              <a:rPr sz="800" b="0" dirty="0" smtClean="0">
                <a:solidFill>
                  <a:srgbClr val="B2C4BB"/>
                </a:solidFill>
                <a:latin typeface="Aptos"/>
              </a:rPr>
              <a:t>  </a:t>
            </a:r>
            <a:r>
              <a:rPr sz="800" b="0" dirty="0">
                <a:solidFill>
                  <a:srgbClr val="B2C4BB"/>
                </a:solidFill>
                <a:latin typeface="Aptos"/>
              </a:rPr>
              <a:t>•  Confidential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Aptos"/>
              </a:rPr>
              <a:t>НЕ ЕЩЁ ОДИН СПИСОК ЗАДАЧ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7F4EA"/>
                </a:solidFill>
                <a:latin typeface="Aptos"/>
              </a:rPr>
              <a:t>Конкуренты и отличие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B2C4BB"/>
                </a:solidFill>
                <a:latin typeface="Aptos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743200" cy="502920"/>
          </a:xfrm>
          <a:prstGeom prst="roundRect">
            <a:avLst>
              <a:gd name="adj" fmla="val 12000"/>
            </a:avLst>
          </a:prstGeom>
          <a:solidFill>
            <a:srgbClr val="126A4E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265176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7F4EA"/>
                </a:solidFill>
                <a:latin typeface="Aptos"/>
              </a:rPr>
              <a:t>Критерий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8144" y="1325880"/>
            <a:ext cx="1828800" cy="502920"/>
          </a:xfrm>
          <a:prstGeom prst="roundRect">
            <a:avLst>
              <a:gd name="adj" fmla="val 12000"/>
            </a:avLst>
          </a:prstGeom>
          <a:solidFill>
            <a:srgbClr val="126A4E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83863" y="1389888"/>
            <a:ext cx="173736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7F4EA"/>
                </a:solidFill>
                <a:latin typeface="Aptos"/>
              </a:rPr>
              <a:t>Todoist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21808" y="1325880"/>
            <a:ext cx="1828800" cy="502920"/>
          </a:xfrm>
          <a:prstGeom prst="roundRect">
            <a:avLst>
              <a:gd name="adj" fmla="val 12000"/>
            </a:avLst>
          </a:prstGeom>
          <a:solidFill>
            <a:srgbClr val="126A4E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67528" y="1389888"/>
            <a:ext cx="173736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7F4EA"/>
                </a:solidFill>
                <a:latin typeface="Aptos"/>
              </a:rPr>
              <a:t>TickTick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05472" y="1325880"/>
            <a:ext cx="1828800" cy="502920"/>
          </a:xfrm>
          <a:prstGeom prst="roundRect">
            <a:avLst>
              <a:gd name="adj" fmla="val 12000"/>
            </a:avLst>
          </a:prstGeom>
          <a:solidFill>
            <a:srgbClr val="126A4E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51192" y="1389888"/>
            <a:ext cx="173736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7F4EA"/>
                </a:solidFill>
                <a:latin typeface="Aptos"/>
              </a:rPr>
              <a:t>Notion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89136" y="1325880"/>
            <a:ext cx="2286000" cy="502920"/>
          </a:xfrm>
          <a:prstGeom prst="roundRect">
            <a:avLst>
              <a:gd name="adj" fmla="val 12000"/>
            </a:avLst>
          </a:prstGeom>
          <a:solidFill>
            <a:srgbClr val="126A4E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91498" y="1472964"/>
            <a:ext cx="681277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1000" b="1" dirty="0" smtClean="0">
                <a:solidFill>
                  <a:srgbClr val="F7F4EA"/>
                </a:solidFill>
                <a:latin typeface="Aptos"/>
              </a:rPr>
              <a:t>Task </a:t>
            </a:r>
            <a:r>
              <a:rPr lang="en-US" sz="1000" b="1" dirty="0" err="1" smtClean="0">
                <a:solidFill>
                  <a:srgbClr val="F7F4EA"/>
                </a:solidFill>
                <a:latin typeface="Aptos"/>
              </a:rPr>
              <a:t>Wyrm</a:t>
            </a:r>
            <a:endParaRPr sz="1000" b="1" dirty="0">
              <a:solidFill>
                <a:srgbClr val="F7F4EA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1901952"/>
            <a:ext cx="2743200" cy="484632"/>
          </a:xfrm>
          <a:prstGeom prst="roundRect">
            <a:avLst>
              <a:gd name="adj" fmla="val 12000"/>
            </a:avLst>
          </a:prstGeom>
          <a:solidFill>
            <a:srgbClr val="0E3026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6" y="1984248"/>
            <a:ext cx="2670048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7F4EA"/>
                </a:solidFill>
                <a:latin typeface="Aptos"/>
              </a:rPr>
              <a:t>Геймификация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38144" y="1901952"/>
            <a:ext cx="1828800" cy="484632"/>
          </a:xfrm>
          <a:prstGeom prst="roundRect">
            <a:avLst>
              <a:gd name="adj" fmla="val 12000"/>
            </a:avLst>
          </a:prstGeom>
          <a:solidFill>
            <a:srgbClr val="0E3026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0" y="1984248"/>
            <a:ext cx="1755648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B2C4BB"/>
                </a:solidFill>
                <a:latin typeface="Aptos"/>
              </a:rPr>
              <a:t>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21808" y="1901952"/>
            <a:ext cx="1828800" cy="484632"/>
          </a:xfrm>
          <a:prstGeom prst="roundRect">
            <a:avLst>
              <a:gd name="adj" fmla="val 12000"/>
            </a:avLst>
          </a:prstGeom>
          <a:solidFill>
            <a:srgbClr val="0E3026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58384" y="1984248"/>
            <a:ext cx="1755648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B2C4BB"/>
                </a:solidFill>
                <a:latin typeface="Aptos"/>
              </a:rPr>
              <a:t>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05472" y="1901952"/>
            <a:ext cx="1828800" cy="484632"/>
          </a:xfrm>
          <a:prstGeom prst="roundRect">
            <a:avLst>
              <a:gd name="adj" fmla="val 12000"/>
            </a:avLst>
          </a:prstGeom>
          <a:solidFill>
            <a:srgbClr val="0E3026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42048" y="1984248"/>
            <a:ext cx="1755648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B2C4BB"/>
                </a:solidFill>
                <a:latin typeface="Aptos"/>
              </a:rPr>
              <a:t>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89136" y="1901952"/>
            <a:ext cx="2286000" cy="484632"/>
          </a:xfrm>
          <a:prstGeom prst="roundRect">
            <a:avLst>
              <a:gd name="adj" fmla="val 12000"/>
            </a:avLst>
          </a:prstGeom>
          <a:solidFill>
            <a:srgbClr val="144133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25712" y="1984248"/>
            <a:ext cx="2212848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C654"/>
                </a:solidFill>
                <a:latin typeface="Aptos"/>
              </a:rPr>
              <a:t>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2487168"/>
            <a:ext cx="2743200" cy="484632"/>
          </a:xfrm>
          <a:prstGeom prst="roundRect">
            <a:avLst>
              <a:gd name="adj" fmla="val 12000"/>
            </a:avLst>
          </a:prstGeom>
          <a:solidFill>
            <a:srgbClr val="0E3026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6" y="2569464"/>
            <a:ext cx="2670048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7F4EA"/>
                </a:solidFill>
                <a:latin typeface="Aptos"/>
              </a:rPr>
              <a:t>Маскот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38144" y="2487168"/>
            <a:ext cx="1828800" cy="484632"/>
          </a:xfrm>
          <a:prstGeom prst="roundRect">
            <a:avLst>
              <a:gd name="adj" fmla="val 12000"/>
            </a:avLst>
          </a:prstGeom>
          <a:solidFill>
            <a:srgbClr val="0E3026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74720" y="2569464"/>
            <a:ext cx="1755648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B2C4BB"/>
                </a:solidFill>
                <a:latin typeface="Aptos"/>
              </a:rPr>
              <a:t>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21808" y="2487168"/>
            <a:ext cx="1828800" cy="484632"/>
          </a:xfrm>
          <a:prstGeom prst="roundRect">
            <a:avLst>
              <a:gd name="adj" fmla="val 12000"/>
            </a:avLst>
          </a:prstGeom>
          <a:solidFill>
            <a:srgbClr val="0E3026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58384" y="2569464"/>
            <a:ext cx="1755648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B2C4BB"/>
                </a:solidFill>
                <a:latin typeface="Aptos"/>
              </a:rPr>
              <a:t>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05472" y="2487168"/>
            <a:ext cx="1828800" cy="484632"/>
          </a:xfrm>
          <a:prstGeom prst="roundRect">
            <a:avLst>
              <a:gd name="adj" fmla="val 12000"/>
            </a:avLst>
          </a:prstGeom>
          <a:solidFill>
            <a:srgbClr val="0E3026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42048" y="2569464"/>
            <a:ext cx="1755648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B2C4BB"/>
                </a:solidFill>
                <a:latin typeface="Aptos"/>
              </a:rPr>
              <a:t>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89136" y="2487168"/>
            <a:ext cx="2286000" cy="484632"/>
          </a:xfrm>
          <a:prstGeom prst="roundRect">
            <a:avLst>
              <a:gd name="adj" fmla="val 12000"/>
            </a:avLst>
          </a:prstGeom>
          <a:solidFill>
            <a:srgbClr val="144133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25712" y="2569464"/>
            <a:ext cx="2212848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C654"/>
                </a:solidFill>
                <a:latin typeface="Aptos"/>
              </a:rPr>
              <a:t>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3072384"/>
            <a:ext cx="2743200" cy="484632"/>
          </a:xfrm>
          <a:prstGeom prst="roundRect">
            <a:avLst>
              <a:gd name="adj" fmla="val 12000"/>
            </a:avLst>
          </a:prstGeom>
          <a:solidFill>
            <a:srgbClr val="0E3026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6656" y="3154680"/>
            <a:ext cx="2670048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7F4EA"/>
                </a:solidFill>
                <a:latin typeface="Aptos"/>
              </a:rPr>
              <a:t>ИИ-помощник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38144" y="3072384"/>
            <a:ext cx="1828800" cy="484632"/>
          </a:xfrm>
          <a:prstGeom prst="roundRect">
            <a:avLst>
              <a:gd name="adj" fmla="val 12000"/>
            </a:avLst>
          </a:prstGeom>
          <a:solidFill>
            <a:srgbClr val="0E3026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74720" y="3154680"/>
            <a:ext cx="1755648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B2C4BB"/>
                </a:solidFill>
                <a:latin typeface="Aptos"/>
              </a:rPr>
              <a:t>±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21808" y="3072384"/>
            <a:ext cx="1828800" cy="484632"/>
          </a:xfrm>
          <a:prstGeom prst="roundRect">
            <a:avLst>
              <a:gd name="adj" fmla="val 12000"/>
            </a:avLst>
          </a:prstGeom>
          <a:solidFill>
            <a:srgbClr val="0E3026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58384" y="3154680"/>
            <a:ext cx="1755648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B2C4BB"/>
                </a:solidFill>
                <a:latin typeface="Aptos"/>
              </a:rPr>
              <a:t>±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05472" y="3072384"/>
            <a:ext cx="1828800" cy="484632"/>
          </a:xfrm>
          <a:prstGeom prst="roundRect">
            <a:avLst>
              <a:gd name="adj" fmla="val 12000"/>
            </a:avLst>
          </a:prstGeom>
          <a:solidFill>
            <a:srgbClr val="0E3026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242048" y="3154680"/>
            <a:ext cx="1755648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B2C4BB"/>
                </a:solidFill>
                <a:latin typeface="Aptos"/>
              </a:rPr>
              <a:t>±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89136" y="3072384"/>
            <a:ext cx="2286000" cy="484632"/>
          </a:xfrm>
          <a:prstGeom prst="roundRect">
            <a:avLst>
              <a:gd name="adj" fmla="val 12000"/>
            </a:avLst>
          </a:prstGeom>
          <a:solidFill>
            <a:srgbClr val="144133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25712" y="3154680"/>
            <a:ext cx="2212848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C654"/>
                </a:solidFill>
                <a:latin typeface="Aptos"/>
              </a:rPr>
              <a:t>✓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3657600"/>
            <a:ext cx="2743200" cy="484632"/>
          </a:xfrm>
          <a:prstGeom prst="roundRect">
            <a:avLst>
              <a:gd name="adj" fmla="val 12000"/>
            </a:avLst>
          </a:prstGeom>
          <a:solidFill>
            <a:srgbClr val="0E3026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76656" y="3739896"/>
            <a:ext cx="2670048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7F4EA"/>
                </a:solidFill>
                <a:latin typeface="Aptos"/>
              </a:rPr>
              <a:t>Эволюция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38144" y="3657600"/>
            <a:ext cx="1828800" cy="484632"/>
          </a:xfrm>
          <a:prstGeom prst="roundRect">
            <a:avLst>
              <a:gd name="adj" fmla="val 12000"/>
            </a:avLst>
          </a:prstGeom>
          <a:solidFill>
            <a:srgbClr val="0E3026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474720" y="3739896"/>
            <a:ext cx="1755648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B2C4BB"/>
                </a:solidFill>
                <a:latin typeface="Aptos"/>
              </a:rPr>
              <a:t>—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21808" y="3657600"/>
            <a:ext cx="1828800" cy="484632"/>
          </a:xfrm>
          <a:prstGeom prst="roundRect">
            <a:avLst>
              <a:gd name="adj" fmla="val 12000"/>
            </a:avLst>
          </a:prstGeom>
          <a:solidFill>
            <a:srgbClr val="0E3026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358384" y="3739896"/>
            <a:ext cx="1755648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B2C4BB"/>
                </a:solidFill>
                <a:latin typeface="Aptos"/>
              </a:rPr>
              <a:t>—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05472" y="3657600"/>
            <a:ext cx="1828800" cy="484632"/>
          </a:xfrm>
          <a:prstGeom prst="roundRect">
            <a:avLst>
              <a:gd name="adj" fmla="val 12000"/>
            </a:avLst>
          </a:prstGeom>
          <a:solidFill>
            <a:srgbClr val="0E3026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242048" y="3739896"/>
            <a:ext cx="1755648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B2C4BB"/>
                </a:solidFill>
                <a:latin typeface="Aptos"/>
              </a:rPr>
              <a:t>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89136" y="3657600"/>
            <a:ext cx="2286000" cy="484632"/>
          </a:xfrm>
          <a:prstGeom prst="roundRect">
            <a:avLst>
              <a:gd name="adj" fmla="val 12000"/>
            </a:avLst>
          </a:prstGeom>
          <a:solidFill>
            <a:srgbClr val="144133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125712" y="3739896"/>
            <a:ext cx="2212848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C654"/>
                </a:solidFill>
                <a:latin typeface="Aptos"/>
              </a:rPr>
              <a:t>✓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58368" y="5074920"/>
            <a:ext cx="10835640" cy="822960"/>
          </a:xfrm>
          <a:prstGeom prst="roundRect">
            <a:avLst>
              <a:gd name="adj" fmla="val 12000"/>
            </a:avLst>
          </a:prstGeom>
          <a:solidFill>
            <a:srgbClr val="134736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14400" y="5193792"/>
            <a:ext cx="16459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Aptos"/>
              </a:rPr>
              <a:t>Наше отличие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423160" y="5138928"/>
            <a:ext cx="864108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7F4EA"/>
                </a:solidFill>
                <a:latin typeface="Aptos"/>
              </a:rPr>
              <a:t>Дракон — не декор: он является частью прогрессии, награды и причины возвращаться.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3232" y="6053328"/>
            <a:ext cx="1069848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B2C4BB"/>
                </a:solidFill>
                <a:latin typeface="Aptos"/>
              </a:rPr>
              <a:t>Сравнение — позиционирование из концепта; функции конкурентов следует перепроверить перед публичным использованием.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4360" y="6540412"/>
            <a:ext cx="1213474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800" dirty="0" smtClean="0">
                <a:solidFill>
                  <a:srgbClr val="B2C4BB"/>
                </a:solidFill>
                <a:latin typeface="Aptos"/>
              </a:rPr>
              <a:t>Task </a:t>
            </a:r>
            <a:r>
              <a:rPr lang="en-US" sz="800" dirty="0" err="1" smtClean="0">
                <a:solidFill>
                  <a:srgbClr val="B2C4BB"/>
                </a:solidFill>
                <a:latin typeface="Aptos"/>
              </a:rPr>
              <a:t>Wyrm</a:t>
            </a:r>
            <a:r>
              <a:rPr sz="800" b="0" dirty="0" smtClean="0">
                <a:solidFill>
                  <a:srgbClr val="B2C4BB"/>
                </a:solidFill>
                <a:latin typeface="Aptos"/>
              </a:rPr>
              <a:t>  </a:t>
            </a:r>
            <a:r>
              <a:rPr sz="800" b="0" dirty="0">
                <a:solidFill>
                  <a:srgbClr val="B2C4BB"/>
                </a:solidFill>
                <a:latin typeface="Aptos"/>
              </a:rPr>
              <a:t>•  Confidential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Aptos"/>
              </a:rPr>
              <a:t>FREEMIUM + ПОДПИСКА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7F4EA"/>
                </a:solidFill>
                <a:latin typeface="Aptos"/>
              </a:rPr>
              <a:t>Бизнес-модель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B2C4BB"/>
                </a:solidFill>
                <a:latin typeface="Aptos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166360" cy="3429000"/>
          </a:xfrm>
          <a:prstGeom prst="roundRect">
            <a:avLst>
              <a:gd name="adj" fmla="val 12000"/>
            </a:avLst>
          </a:prstGeom>
          <a:solidFill>
            <a:srgbClr val="0E3026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13716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B2C4BB"/>
                </a:solidFill>
                <a:latin typeface="Aptos"/>
              </a:rP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228600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7F4EA"/>
                </a:solidFill>
                <a:latin typeface="Aptos"/>
              </a:rPr>
              <a:t>0 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761488"/>
            <a:ext cx="2743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39167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724912"/>
            <a:ext cx="388620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B2C4BB"/>
                </a:solidFill>
                <a:latin typeface="Aptos"/>
              </a:rPr>
              <a:t>Базовый трекер задач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00400"/>
            <a:ext cx="2743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39167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3163824"/>
            <a:ext cx="388620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B2C4BB"/>
                </a:solidFill>
                <a:latin typeface="Aptos"/>
              </a:rPr>
              <a:t>Дракон до стадии Drake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639312"/>
            <a:ext cx="2743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39167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3602736"/>
            <a:ext cx="388620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B2C4BB"/>
                </a:solidFill>
                <a:latin typeface="Aptos"/>
              </a:rPr>
              <a:t>10 задач в день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078224"/>
            <a:ext cx="2743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39167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4041648"/>
            <a:ext cx="388620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B2C4BB"/>
                </a:solidFill>
                <a:latin typeface="Aptos"/>
              </a:rPr>
              <a:t>Базовый ИИ-помощник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417320"/>
            <a:ext cx="5349240" cy="3429000"/>
          </a:xfrm>
          <a:prstGeom prst="roundRect">
            <a:avLst>
              <a:gd name="adj" fmla="val 12000"/>
            </a:avLst>
          </a:prstGeom>
          <a:solidFill>
            <a:srgbClr val="14413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691640"/>
            <a:ext cx="164592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  <a:latin typeface="Aptos"/>
              </a:rPr>
              <a:t>PREMIUM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57400"/>
            <a:ext cx="320040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FC654"/>
                </a:solidFill>
                <a:latin typeface="Aptos"/>
              </a:rPr>
              <a:t>299 ₽ / мес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761488"/>
            <a:ext cx="2743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3992" y="2724912"/>
            <a:ext cx="411480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F7F4EA"/>
                </a:solidFill>
                <a:latin typeface="Aptos"/>
              </a:rPr>
              <a:t>Безлимитные задачи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200400"/>
            <a:ext cx="2743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3992" y="3163824"/>
            <a:ext cx="411480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F7F4EA"/>
                </a:solidFill>
                <a:latin typeface="Aptos"/>
              </a:rPr>
              <a:t>Все 5 стадий дракона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3639312"/>
            <a:ext cx="2743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3992" y="3602736"/>
            <a:ext cx="411480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F7F4EA"/>
                </a:solidFill>
                <a:latin typeface="Aptos"/>
              </a:rPr>
              <a:t>Продвинутый ИИ и анализ привычек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4078224"/>
            <a:ext cx="2743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4041648"/>
            <a:ext cx="411480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F7F4EA"/>
                </a:solidFill>
                <a:latin typeface="Aptos"/>
              </a:rPr>
              <a:t>Кастомизация + экспорт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138928"/>
            <a:ext cx="10789920" cy="758952"/>
          </a:xfrm>
          <a:prstGeom prst="roundRect">
            <a:avLst>
              <a:gd name="adj" fmla="val 12000"/>
            </a:avLst>
          </a:prstGeom>
          <a:solidFill>
            <a:srgbClr val="123D30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285232"/>
            <a:ext cx="150876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C654"/>
                </a:solidFill>
                <a:latin typeface="Aptos"/>
              </a:rPr>
              <a:t>10 000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5321808"/>
            <a:ext cx="11430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B2C4BB"/>
                </a:solidFill>
                <a:latin typeface="Aptos"/>
              </a:rPr>
              <a:t>пользователей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5285232"/>
            <a:ext cx="150876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C654"/>
                </a:solidFill>
                <a:latin typeface="Aptos"/>
              </a:rPr>
              <a:t>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5321808"/>
            <a:ext cx="11430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 dirty="0" err="1">
                <a:solidFill>
                  <a:srgbClr val="B2C4BB"/>
                </a:solidFill>
                <a:latin typeface="Aptos"/>
              </a:rPr>
              <a:t>конверсия</a:t>
            </a:r>
            <a:endParaRPr sz="900" b="0" dirty="0">
              <a:solidFill>
                <a:srgbClr val="B2C4BB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83680" y="5285232"/>
            <a:ext cx="150876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C654"/>
                </a:solidFill>
                <a:latin typeface="Aptos"/>
              </a:rPr>
              <a:t>149 500 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5321808"/>
            <a:ext cx="11430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B2C4BB"/>
                </a:solidFill>
                <a:latin typeface="Aptos"/>
              </a:rPr>
              <a:t>/ мес.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5276088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F5A623"/>
                </a:solidFill>
                <a:latin typeface="Aptos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276088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00" b="1" dirty="0">
                <a:solidFill>
                  <a:srgbClr val="F5A623"/>
                </a:solidFill>
                <a:latin typeface="Aptos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5303520"/>
            <a:ext cx="233172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F7F4EA"/>
                </a:solidFill>
                <a:latin typeface="Aptos"/>
              </a:rPr>
              <a:t>+ стикеры • темы • скины • B2B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40412"/>
            <a:ext cx="1213474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800" dirty="0" smtClean="0">
                <a:solidFill>
                  <a:srgbClr val="B2C4BB"/>
                </a:solidFill>
                <a:latin typeface="Aptos"/>
              </a:rPr>
              <a:t>Task </a:t>
            </a:r>
            <a:r>
              <a:rPr lang="en-US" sz="800" dirty="0" err="1" smtClean="0">
                <a:solidFill>
                  <a:srgbClr val="B2C4BB"/>
                </a:solidFill>
                <a:latin typeface="Aptos"/>
              </a:rPr>
              <a:t>Wyrm</a:t>
            </a:r>
            <a:r>
              <a:rPr sz="800" b="0" dirty="0" smtClean="0">
                <a:solidFill>
                  <a:srgbClr val="B2C4BB"/>
                </a:solidFill>
                <a:latin typeface="Aptos"/>
              </a:rPr>
              <a:t>  </a:t>
            </a:r>
            <a:r>
              <a:rPr sz="800" b="0" dirty="0">
                <a:solidFill>
                  <a:srgbClr val="B2C4BB"/>
                </a:solidFill>
                <a:latin typeface="Aptos"/>
              </a:rPr>
              <a:t>•  Confidential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Aptos"/>
              </a:rPr>
              <a:t>ТРИ ФУНКЦИИ — ОДИН ПРОДУКТ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7F4EA"/>
                </a:solidFill>
                <a:latin typeface="Aptos"/>
              </a:rPr>
              <a:t>Команда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B2C4BB"/>
                </a:solidFill>
                <a:latin typeface="Aptos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37560" cy="3383280"/>
          </a:xfrm>
          <a:prstGeom prst="roundRect">
            <a:avLst>
              <a:gd name="adj" fmla="val 12000"/>
            </a:avLst>
          </a:prstGeom>
          <a:solidFill>
            <a:srgbClr val="0E3026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684097"/>
            <a:ext cx="2082814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1" dirty="0" smtClean="0">
                <a:solidFill>
                  <a:srgbClr val="F7F4EA"/>
                </a:solidFill>
                <a:latin typeface="Aptos"/>
              </a:rPr>
              <a:t>[</a:t>
            </a:r>
            <a:r>
              <a:rPr lang="ru-RU" sz="1600" b="1" dirty="0" err="1" smtClean="0">
                <a:solidFill>
                  <a:srgbClr val="F7F4EA"/>
                </a:solidFill>
                <a:latin typeface="Aptos"/>
              </a:rPr>
              <a:t>Никоноров</a:t>
            </a:r>
            <a:r>
              <a:rPr lang="ru-RU" sz="1600" b="1" dirty="0" smtClean="0">
                <a:solidFill>
                  <a:srgbClr val="F7F4EA"/>
                </a:solidFill>
                <a:latin typeface="Aptos"/>
              </a:rPr>
              <a:t> Кирилл</a:t>
            </a:r>
            <a:r>
              <a:rPr sz="1600" b="1" dirty="0" smtClean="0">
                <a:solidFill>
                  <a:srgbClr val="F7F4EA"/>
                </a:solidFill>
                <a:latin typeface="Aptos"/>
              </a:rPr>
              <a:t>]</a:t>
            </a:r>
            <a:endParaRPr sz="1600" b="1" dirty="0">
              <a:solidFill>
                <a:srgbClr val="F7F4EA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3097473"/>
            <a:ext cx="1317668" cy="1692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1100" b="1" dirty="0" smtClean="0">
                <a:solidFill>
                  <a:srgbClr val="F5A623"/>
                </a:solidFill>
                <a:latin typeface="Aptos"/>
              </a:rPr>
              <a:t>Backend</a:t>
            </a:r>
            <a:r>
              <a:rPr lang="ru-RU" sz="1100" b="1" dirty="0" smtClean="0">
                <a:solidFill>
                  <a:srgbClr val="F5A623"/>
                </a:solidFill>
                <a:latin typeface="Aptos"/>
              </a:rPr>
              <a:t> </a:t>
            </a:r>
            <a:r>
              <a:rPr lang="ru-RU" sz="1100" b="1" dirty="0" smtClean="0">
                <a:solidFill>
                  <a:srgbClr val="F5A623"/>
                </a:solidFill>
                <a:latin typeface="Aptos"/>
              </a:rPr>
              <a:t>/ </a:t>
            </a:r>
            <a:r>
              <a:rPr lang="en-US" sz="1100" b="1" dirty="0" smtClean="0">
                <a:solidFill>
                  <a:srgbClr val="F5A623"/>
                </a:solidFill>
                <a:latin typeface="Aptos"/>
              </a:rPr>
              <a:t>Frontend</a:t>
            </a:r>
            <a:endParaRPr sz="1100" b="1" dirty="0">
              <a:solidFill>
                <a:srgbClr val="F5A623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0120" y="3667524"/>
            <a:ext cx="2281074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ru-RU" sz="1000" dirty="0" smtClean="0">
                <a:solidFill>
                  <a:srgbClr val="B2C4BB"/>
                </a:solidFill>
                <a:latin typeface="Aptos"/>
              </a:rPr>
              <a:t>Внутренняя и </a:t>
            </a:r>
            <a:r>
              <a:rPr lang="ru-RU" sz="1000" dirty="0" smtClean="0">
                <a:solidFill>
                  <a:srgbClr val="B2C4BB"/>
                </a:solidFill>
                <a:latin typeface="Aptos"/>
              </a:rPr>
              <a:t>внешняя</a:t>
            </a:r>
            <a:r>
              <a:rPr lang="ru-RU" sz="1000" dirty="0" smtClean="0">
                <a:solidFill>
                  <a:srgbClr val="B2C4BB"/>
                </a:solidFill>
                <a:latin typeface="Aptos"/>
              </a:rPr>
              <a:t> </a:t>
            </a:r>
            <a:r>
              <a:rPr lang="ru-RU" sz="1000" dirty="0" smtClean="0">
                <a:solidFill>
                  <a:srgbClr val="B2C4BB"/>
                </a:solidFill>
                <a:latin typeface="Aptos"/>
              </a:rPr>
              <a:t>составляющая</a:t>
            </a:r>
            <a:endParaRPr sz="1000" b="0" dirty="0">
              <a:solidFill>
                <a:srgbClr val="B2C4BB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62272" y="1417320"/>
            <a:ext cx="3337560" cy="3383280"/>
          </a:xfrm>
          <a:prstGeom prst="roundRect">
            <a:avLst>
              <a:gd name="adj" fmla="val 12000"/>
            </a:avLst>
          </a:prstGeom>
          <a:solidFill>
            <a:srgbClr val="0E3026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90872" y="1737360"/>
            <a:ext cx="640080" cy="640080"/>
          </a:xfrm>
          <a:prstGeom prst="ellipse">
            <a:avLst/>
          </a:prstGeom>
          <a:solidFill>
            <a:srgbClr val="126A4E"/>
          </a:solidFill>
          <a:ln w="25400"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90872" y="1901952"/>
            <a:ext cx="64008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7F4EA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684097"/>
            <a:ext cx="1885644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1" dirty="0" smtClean="0">
                <a:solidFill>
                  <a:srgbClr val="F7F4EA"/>
                </a:solidFill>
                <a:latin typeface="Aptos"/>
              </a:rPr>
              <a:t>[</a:t>
            </a:r>
            <a:r>
              <a:rPr lang="ru-RU" sz="1600" b="1" dirty="0" smtClean="0">
                <a:solidFill>
                  <a:srgbClr val="F7F4EA"/>
                </a:solidFill>
                <a:latin typeface="Aptos"/>
              </a:rPr>
              <a:t>Щепелев Кирилл</a:t>
            </a:r>
            <a:r>
              <a:rPr sz="1600" b="1" dirty="0" smtClean="0">
                <a:solidFill>
                  <a:srgbClr val="F7F4EA"/>
                </a:solidFill>
                <a:latin typeface="Aptos"/>
              </a:rPr>
              <a:t>]</a:t>
            </a:r>
            <a:endParaRPr sz="1600" b="1" dirty="0">
              <a:solidFill>
                <a:srgbClr val="F7F4EA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90872" y="3097473"/>
            <a:ext cx="1332096" cy="1692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1100" b="1" dirty="0" smtClean="0">
                <a:solidFill>
                  <a:srgbClr val="F5A623"/>
                </a:solidFill>
                <a:latin typeface="Aptos"/>
              </a:rPr>
              <a:t>Frontend </a:t>
            </a:r>
            <a:r>
              <a:rPr lang="ru-RU" sz="1100" b="1" dirty="0" smtClean="0">
                <a:solidFill>
                  <a:srgbClr val="F5A623"/>
                </a:solidFill>
                <a:latin typeface="Aptos"/>
              </a:rPr>
              <a:t>/ </a:t>
            </a:r>
            <a:r>
              <a:rPr lang="en-US" sz="1100" b="1" dirty="0" smtClean="0">
                <a:solidFill>
                  <a:srgbClr val="F5A623"/>
                </a:solidFill>
                <a:latin typeface="Aptos"/>
              </a:rPr>
              <a:t>Designer</a:t>
            </a:r>
            <a:endParaRPr lang="en-US" sz="1100" b="1" dirty="0" smtClean="0">
              <a:solidFill>
                <a:srgbClr val="F5A623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90872" y="3667524"/>
            <a:ext cx="1490793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ru-RU" sz="1000" b="0" dirty="0" smtClean="0">
                <a:solidFill>
                  <a:srgbClr val="B2C4BB"/>
                </a:solidFill>
                <a:latin typeface="Aptos"/>
              </a:rPr>
              <a:t>Внешняя составляющая </a:t>
            </a:r>
            <a:endParaRPr sz="1000" b="0" dirty="0">
              <a:solidFill>
                <a:srgbClr val="B2C4BB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193024" y="1417320"/>
            <a:ext cx="3337560" cy="3383280"/>
          </a:xfrm>
          <a:prstGeom prst="roundRect">
            <a:avLst>
              <a:gd name="adj" fmla="val 12000"/>
            </a:avLst>
          </a:prstGeom>
          <a:solidFill>
            <a:srgbClr val="0E3026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21624" y="1737360"/>
            <a:ext cx="640080" cy="640080"/>
          </a:xfrm>
          <a:prstGeom prst="ellipse">
            <a:avLst/>
          </a:prstGeom>
          <a:solidFill>
            <a:srgbClr val="126A4E"/>
          </a:solidFill>
          <a:ln w="25400"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21624" y="1901952"/>
            <a:ext cx="64008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7F4EA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2684097"/>
            <a:ext cx="1722844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1" dirty="0" smtClean="0">
                <a:solidFill>
                  <a:srgbClr val="F7F4EA"/>
                </a:solidFill>
                <a:latin typeface="Aptos"/>
              </a:rPr>
              <a:t>[</a:t>
            </a:r>
            <a:r>
              <a:rPr lang="ru-RU" sz="1600" b="1" dirty="0" smtClean="0">
                <a:solidFill>
                  <a:srgbClr val="F7F4EA"/>
                </a:solidFill>
                <a:latin typeface="Aptos"/>
              </a:rPr>
              <a:t>Смоляков Иван</a:t>
            </a:r>
            <a:r>
              <a:rPr sz="1600" b="1" dirty="0" smtClean="0">
                <a:solidFill>
                  <a:srgbClr val="F7F4EA"/>
                </a:solidFill>
                <a:latin typeface="Aptos"/>
              </a:rPr>
              <a:t>]</a:t>
            </a:r>
            <a:endParaRPr sz="1600" b="1" dirty="0">
              <a:solidFill>
                <a:srgbClr val="F7F4EA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21624" y="3097473"/>
            <a:ext cx="2335576" cy="1692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dirty="0">
                <a:solidFill>
                  <a:srgbClr val="F5A623"/>
                </a:solidFill>
                <a:latin typeface="Aptos"/>
              </a:rPr>
              <a:t>CMO / </a:t>
            </a:r>
            <a:r>
              <a:rPr sz="1100" b="1" dirty="0" smtClean="0">
                <a:solidFill>
                  <a:srgbClr val="F5A623"/>
                </a:solidFill>
                <a:latin typeface="Aptos"/>
              </a:rPr>
              <a:t>Marketing</a:t>
            </a:r>
            <a:r>
              <a:rPr lang="ru-RU" sz="1100" b="1" dirty="0" smtClean="0">
                <a:solidFill>
                  <a:srgbClr val="F5A623"/>
                </a:solidFill>
                <a:latin typeface="Aptos"/>
              </a:rPr>
              <a:t> / </a:t>
            </a:r>
            <a:r>
              <a:rPr lang="en-US" sz="1100" b="1" dirty="0" smtClean="0">
                <a:solidFill>
                  <a:srgbClr val="F5A623"/>
                </a:solidFill>
                <a:latin typeface="Aptos"/>
              </a:rPr>
              <a:t>CEO </a:t>
            </a:r>
            <a:r>
              <a:rPr lang="ru-RU" sz="1100" b="1" dirty="0" smtClean="0">
                <a:solidFill>
                  <a:srgbClr val="F5A623"/>
                </a:solidFill>
                <a:latin typeface="Aptos"/>
              </a:rPr>
              <a:t>/ </a:t>
            </a:r>
            <a:r>
              <a:rPr lang="en-US" sz="1100" b="1" dirty="0" smtClean="0">
                <a:solidFill>
                  <a:srgbClr val="F5A623"/>
                </a:solidFill>
                <a:latin typeface="Aptos"/>
              </a:rPr>
              <a:t>Team lead</a:t>
            </a:r>
            <a:endParaRPr sz="1100" b="1" dirty="0">
              <a:solidFill>
                <a:srgbClr val="F5A623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21624" y="3667524"/>
            <a:ext cx="2418932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000" b="0" dirty="0">
                <a:solidFill>
                  <a:srgbClr val="B2C4BB"/>
                </a:solidFill>
                <a:latin typeface="Aptos"/>
              </a:rPr>
              <a:t>SMM • </a:t>
            </a:r>
            <a:r>
              <a:rPr sz="1000" b="0" dirty="0" err="1">
                <a:solidFill>
                  <a:srgbClr val="B2C4BB"/>
                </a:solidFill>
                <a:latin typeface="Aptos"/>
              </a:rPr>
              <a:t>запуск</a:t>
            </a:r>
            <a:r>
              <a:rPr sz="1000" b="0" dirty="0">
                <a:solidFill>
                  <a:srgbClr val="B2C4BB"/>
                </a:solidFill>
                <a:latin typeface="Aptos"/>
              </a:rPr>
              <a:t> • </a:t>
            </a:r>
            <a:r>
              <a:rPr sz="1000" b="0" dirty="0" err="1" smtClean="0">
                <a:solidFill>
                  <a:srgbClr val="B2C4BB"/>
                </a:solidFill>
                <a:latin typeface="Aptos"/>
              </a:rPr>
              <a:t>партнёрства</a:t>
            </a:r>
            <a:r>
              <a:rPr lang="en-US" sz="1000" b="0" dirty="0" smtClean="0">
                <a:solidFill>
                  <a:srgbClr val="B2C4BB"/>
                </a:solidFill>
                <a:latin typeface="Aptos"/>
              </a:rPr>
              <a:t> </a:t>
            </a:r>
            <a:r>
              <a:rPr lang="ru-RU" sz="1000" dirty="0">
                <a:solidFill>
                  <a:srgbClr val="B2C4BB"/>
                </a:solidFill>
                <a:latin typeface="Aptos"/>
              </a:rPr>
              <a:t>• </a:t>
            </a:r>
            <a:r>
              <a:rPr lang="ru-RU" sz="1000" dirty="0" smtClean="0">
                <a:solidFill>
                  <a:srgbClr val="B2C4BB"/>
                </a:solidFill>
                <a:latin typeface="Aptos"/>
              </a:rPr>
              <a:t>Стратегия</a:t>
            </a:r>
            <a:r>
              <a:rPr lang="en-US" sz="1000" b="0" dirty="0" smtClean="0">
                <a:solidFill>
                  <a:srgbClr val="B2C4BB"/>
                </a:solidFill>
                <a:latin typeface="Aptos"/>
              </a:rPr>
              <a:t> </a:t>
            </a:r>
            <a:endParaRPr sz="1000" b="0" dirty="0">
              <a:solidFill>
                <a:srgbClr val="B2C4BB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31520" y="5166360"/>
            <a:ext cx="10698480" cy="777240"/>
          </a:xfrm>
          <a:prstGeom prst="roundRect">
            <a:avLst>
              <a:gd name="adj" fmla="val 12000"/>
            </a:avLst>
          </a:prstGeom>
          <a:solidFill>
            <a:srgbClr val="123D30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5321808"/>
            <a:ext cx="123444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Aptos"/>
              </a:rPr>
              <a:t>Почему мы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5285232"/>
            <a:ext cx="859536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7F4EA"/>
                </a:solidFill>
                <a:latin typeface="Aptos"/>
              </a:rPr>
              <a:t>Понимаем аудиторию • строим продукт вокруг привычки • готовы быстро тестировать гипотезы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0412"/>
            <a:ext cx="1213474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800" dirty="0" smtClean="0">
                <a:solidFill>
                  <a:srgbClr val="B2C4BB"/>
                </a:solidFill>
                <a:latin typeface="Aptos"/>
              </a:rPr>
              <a:t>Task </a:t>
            </a:r>
            <a:r>
              <a:rPr lang="en-US" sz="800" dirty="0" err="1" smtClean="0">
                <a:solidFill>
                  <a:srgbClr val="B2C4BB"/>
                </a:solidFill>
                <a:latin typeface="Aptos"/>
              </a:rPr>
              <a:t>Wyrm</a:t>
            </a:r>
            <a:r>
              <a:rPr sz="800" b="0" dirty="0" smtClean="0">
                <a:solidFill>
                  <a:srgbClr val="B2C4BB"/>
                </a:solidFill>
                <a:latin typeface="Aptos"/>
              </a:rPr>
              <a:t>  •  Confidential</a:t>
            </a:r>
            <a:endParaRPr sz="800" b="0" dirty="0">
              <a:solidFill>
                <a:srgbClr val="B2C4BB"/>
              </a:solidFill>
              <a:latin typeface="Aptos"/>
            </a:endParaRPr>
          </a:p>
        </p:txBody>
      </p:sp>
      <p:sp>
        <p:nvSpPr>
          <p:cNvPr id="27" name="Oval 11"/>
          <p:cNvSpPr/>
          <p:nvPr/>
        </p:nvSpPr>
        <p:spPr>
          <a:xfrm>
            <a:off x="960120" y="1737360"/>
            <a:ext cx="640080" cy="640080"/>
          </a:xfrm>
          <a:prstGeom prst="ellipse">
            <a:avLst/>
          </a:prstGeom>
          <a:solidFill>
            <a:srgbClr val="126A4E"/>
          </a:solidFill>
          <a:ln w="25400"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01952"/>
            <a:ext cx="64008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7F4EA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Aptos"/>
              </a:rPr>
              <a:t>СЛЕДУЮЩИЙ ЭТАП — MVP И ПЕРВЫЕ ПОЛЬЗОВАТЕЛИ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7F4EA"/>
                </a:solidFill>
                <a:latin typeface="Aptos"/>
              </a:rPr>
              <a:t>Финансы и запрос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B2C4BB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4572000" cy="6583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C654"/>
                </a:solidFill>
                <a:latin typeface="Aptos"/>
              </a:rPr>
              <a:t>3 000 000 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938528"/>
            <a:ext cx="40233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B2C4BB"/>
                </a:solidFill>
                <a:latin typeface="Aptos"/>
              </a:rPr>
              <a:t>инвестиционный запрос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87168"/>
            <a:ext cx="2743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7F4EA"/>
                </a:solidFill>
                <a:latin typeface="Aptos"/>
              </a:rPr>
              <a:t>MVP — 1.2M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2523744"/>
            <a:ext cx="4160520" cy="182880"/>
          </a:xfrm>
          <a:prstGeom prst="roundRect">
            <a:avLst>
              <a:gd name="adj" fmla="val 12000"/>
            </a:avLst>
          </a:prstGeom>
          <a:solidFill>
            <a:srgbClr val="1D3D33"/>
          </a:solidFill>
          <a:ln>
            <a:solidFill>
              <a:srgbClr val="1D3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11880" y="2523744"/>
            <a:ext cx="4160520" cy="182880"/>
          </a:xfrm>
          <a:prstGeom prst="roundRect">
            <a:avLst>
              <a:gd name="adj" fmla="val 12000"/>
            </a:avLst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990088"/>
            <a:ext cx="2743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7F4EA"/>
                </a:solidFill>
                <a:latin typeface="Aptos"/>
              </a:rPr>
              <a:t>Дизайн + маскот — 0.4M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3026664"/>
            <a:ext cx="4160520" cy="182880"/>
          </a:xfrm>
          <a:prstGeom prst="roundRect">
            <a:avLst>
              <a:gd name="adj" fmla="val 12000"/>
            </a:avLst>
          </a:prstGeom>
          <a:solidFill>
            <a:srgbClr val="1D3D33"/>
          </a:solidFill>
          <a:ln>
            <a:solidFill>
              <a:srgbClr val="1D3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611880" y="3026664"/>
            <a:ext cx="1386840" cy="182880"/>
          </a:xfrm>
          <a:prstGeom prst="roundRect">
            <a:avLst>
              <a:gd name="adj" fmla="val 12000"/>
            </a:avLst>
          </a:prstGeom>
          <a:solidFill>
            <a:srgbClr val="239167"/>
          </a:solidFill>
          <a:ln>
            <a:solidFill>
              <a:srgbClr val="23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493008"/>
            <a:ext cx="2743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7F4EA"/>
                </a:solidFill>
                <a:latin typeface="Aptos"/>
              </a:rPr>
              <a:t>Маркетинг — 0.8M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3529584"/>
            <a:ext cx="4160520" cy="182880"/>
          </a:xfrm>
          <a:prstGeom prst="roundRect">
            <a:avLst>
              <a:gd name="adj" fmla="val 12000"/>
            </a:avLst>
          </a:prstGeom>
          <a:solidFill>
            <a:srgbClr val="1D3D33"/>
          </a:solidFill>
          <a:ln>
            <a:solidFill>
              <a:srgbClr val="1D3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611880" y="3529584"/>
            <a:ext cx="2773680" cy="182880"/>
          </a:xfrm>
          <a:prstGeom prst="roundRect">
            <a:avLst>
              <a:gd name="adj" fmla="val 12000"/>
            </a:avLst>
          </a:prstGeom>
          <a:solidFill>
            <a:srgbClr val="FFC654"/>
          </a:solidFill>
          <a:ln>
            <a:solidFill>
              <a:srgbClr val="FFC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3995928"/>
            <a:ext cx="2743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7F4EA"/>
                </a:solidFill>
                <a:latin typeface="Aptos"/>
              </a:rPr>
              <a:t>Юр. + ТЗ — 0.2M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4032504"/>
            <a:ext cx="4160520" cy="182880"/>
          </a:xfrm>
          <a:prstGeom prst="roundRect">
            <a:avLst>
              <a:gd name="adj" fmla="val 12000"/>
            </a:avLst>
          </a:prstGeom>
          <a:solidFill>
            <a:srgbClr val="1D3D33"/>
          </a:solidFill>
          <a:ln>
            <a:solidFill>
              <a:srgbClr val="1D3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611880" y="4032504"/>
            <a:ext cx="693420" cy="182880"/>
          </a:xfrm>
          <a:prstGeom prst="roundRect">
            <a:avLst>
              <a:gd name="adj" fmla="val 12000"/>
            </a:avLst>
          </a:prstGeom>
          <a:solidFill>
            <a:srgbClr val="239167"/>
          </a:solidFill>
          <a:ln>
            <a:solidFill>
              <a:srgbClr val="23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4498848"/>
            <a:ext cx="2743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7F4EA"/>
                </a:solidFill>
                <a:latin typeface="Aptos"/>
              </a:rPr>
              <a:t>Резерв — 0.4M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4535424"/>
            <a:ext cx="4160520" cy="182880"/>
          </a:xfrm>
          <a:prstGeom prst="roundRect">
            <a:avLst>
              <a:gd name="adj" fmla="val 12000"/>
            </a:avLst>
          </a:prstGeom>
          <a:solidFill>
            <a:srgbClr val="1D3D33"/>
          </a:solidFill>
          <a:ln>
            <a:solidFill>
              <a:srgbClr val="1D3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611880" y="4535424"/>
            <a:ext cx="1386840" cy="182880"/>
          </a:xfrm>
          <a:prstGeom prst="roundRect">
            <a:avLst>
              <a:gd name="adj" fmla="val 12000"/>
            </a:avLst>
          </a:prstGeom>
          <a:solidFill>
            <a:srgbClr val="B2C4BB"/>
          </a:solidFill>
          <a:ln>
            <a:solidFill>
              <a:srgbClr val="B2C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458200" y="2139696"/>
            <a:ext cx="3337560" cy="2706624"/>
          </a:xfrm>
          <a:prstGeom prst="roundRect">
            <a:avLst>
              <a:gd name="adj" fmla="val 12000"/>
            </a:avLst>
          </a:prstGeom>
          <a:solidFill>
            <a:srgbClr val="0E3026"/>
          </a:solidFill>
          <a:ln>
            <a:solidFill>
              <a:srgbClr val="30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59952" y="2459736"/>
            <a:ext cx="256032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7F4EA"/>
                </a:solidFill>
                <a:latin typeface="Aptos"/>
              </a:rPr>
              <a:t>6 месяцев</a:t>
            </a:r>
          </a:p>
        </p:txBody>
      </p:sp>
      <p:sp>
        <p:nvSpPr>
          <p:cNvPr id="24" name="Oval 23"/>
          <p:cNvSpPr/>
          <p:nvPr/>
        </p:nvSpPr>
        <p:spPr>
          <a:xfrm>
            <a:off x="8823960" y="3145536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62288" y="3090672"/>
            <a:ext cx="224028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7F4EA"/>
                </a:solidFill>
                <a:latin typeface="Aptos"/>
              </a:rPr>
              <a:t>10 000 регистраций</a:t>
            </a:r>
          </a:p>
        </p:txBody>
      </p:sp>
      <p:sp>
        <p:nvSpPr>
          <p:cNvPr id="26" name="Oval 25"/>
          <p:cNvSpPr/>
          <p:nvPr/>
        </p:nvSpPr>
        <p:spPr>
          <a:xfrm>
            <a:off x="8823960" y="3648455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62288" y="3593592"/>
            <a:ext cx="224028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7F4EA"/>
                </a:solidFill>
                <a:latin typeface="Aptos"/>
              </a:rPr>
              <a:t>500 Premium</a:t>
            </a:r>
          </a:p>
        </p:txBody>
      </p:sp>
      <p:sp>
        <p:nvSpPr>
          <p:cNvPr id="28" name="Oval 27"/>
          <p:cNvSpPr/>
          <p:nvPr/>
        </p:nvSpPr>
        <p:spPr>
          <a:xfrm>
            <a:off x="8823960" y="4151376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62288" y="4096512"/>
            <a:ext cx="224028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7F4EA"/>
                </a:solidFill>
                <a:latin typeface="Aptos"/>
              </a:rPr>
              <a:t>149 500 ₽ / мес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166360"/>
            <a:ext cx="137160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Aptos"/>
              </a:rPr>
              <a:t>Предлагаем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19" y="5120640"/>
            <a:ext cx="411480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F7F4EA"/>
                </a:solidFill>
                <a:latin typeface="Aptos"/>
              </a:rPr>
              <a:t>10–15% доли • условия обсуждаемы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5230368"/>
            <a:ext cx="10972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5A623"/>
                </a:solidFill>
                <a:latin typeface="Aptos"/>
              </a:rPr>
              <a:t>Контакты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5618875"/>
            <a:ext cx="1716817" cy="33855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US" sz="1100" b="1" dirty="0" smtClean="0">
                <a:solidFill>
                  <a:srgbClr val="F7F4EA"/>
                </a:solidFill>
                <a:latin typeface="Aptos"/>
              </a:rPr>
              <a:t>task_wyrm@yandex.ru</a:t>
            </a:r>
            <a:r>
              <a:rPr sz="1100" b="1" dirty="0" smtClean="0">
                <a:solidFill>
                  <a:srgbClr val="F7F4EA"/>
                </a:solidFill>
                <a:latin typeface="Aptos"/>
              </a:rPr>
              <a:t>
</a:t>
            </a:r>
            <a:r>
              <a:rPr lang="en-US" sz="1100" b="1" dirty="0" smtClean="0">
                <a:solidFill>
                  <a:srgbClr val="F7F4EA"/>
                </a:solidFill>
                <a:latin typeface="Aptos"/>
              </a:rPr>
              <a:t>https</a:t>
            </a:r>
            <a:r>
              <a:rPr lang="en-US" sz="1100" b="1" dirty="0">
                <a:solidFill>
                  <a:srgbClr val="F7F4EA"/>
                </a:solidFill>
                <a:latin typeface="Aptos"/>
              </a:rPr>
              <a:t>://</a:t>
            </a:r>
            <a:r>
              <a:rPr lang="en-US" sz="1100" b="1" dirty="0" smtClean="0">
                <a:solidFill>
                  <a:srgbClr val="F7F4EA"/>
                </a:solidFill>
                <a:latin typeface="Aptos"/>
              </a:rPr>
              <a:t>task-wyrm.tilda.ws</a:t>
            </a:r>
            <a:endParaRPr sz="1100" b="1" dirty="0">
              <a:solidFill>
                <a:srgbClr val="F7F4EA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49808" y="6108192"/>
            <a:ext cx="658368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B2C4BB"/>
                </a:solidFill>
                <a:latin typeface="Aptos"/>
              </a:rPr>
              <a:t>Финансовые прогнозы — целевые сценарии из исходного концепта, не гарантии результата.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40412"/>
            <a:ext cx="575479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800" dirty="0" smtClean="0">
                <a:solidFill>
                  <a:srgbClr val="B2C4BB"/>
                </a:solidFill>
                <a:latin typeface="Aptos"/>
              </a:rPr>
              <a:t>Task </a:t>
            </a:r>
            <a:r>
              <a:rPr lang="en-US" sz="800" dirty="0" err="1" smtClean="0">
                <a:solidFill>
                  <a:srgbClr val="B2C4BB"/>
                </a:solidFill>
                <a:latin typeface="Aptos"/>
              </a:rPr>
              <a:t>Wyrm</a:t>
            </a:r>
            <a:r>
              <a:rPr sz="800" b="0" dirty="0" smtClean="0">
                <a:solidFill>
                  <a:srgbClr val="B2C4BB"/>
                </a:solidFill>
                <a:latin typeface="Aptos"/>
              </a:rPr>
              <a:t>  </a:t>
            </a:r>
            <a:endParaRPr sz="800" b="0" dirty="0">
              <a:solidFill>
                <a:srgbClr val="B2C4BB"/>
              </a:solidFill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579</Words>
  <Application>Microsoft Office PowerPoint</Application>
  <PresentationFormat>Широкоэкранный</PresentationFormat>
  <Paragraphs>194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Кирилл Щепелев</cp:lastModifiedBy>
  <cp:revision>15</cp:revision>
  <dcterms:created xsi:type="dcterms:W3CDTF">2013-01-27T09:14:16Z</dcterms:created>
  <dcterms:modified xsi:type="dcterms:W3CDTF">2026-10-03T01:02:21Z</dcterms:modified>
  <cp:category/>
</cp:coreProperties>
</file>