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198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057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E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ПРАКТИЧЕСКОЕ ЗАНЯТИЕ №9 · СТАРТАП В ИТ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90470"/>
            <a:ext cx="10883392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360"/>
              </a:lnSpc>
              <a:buNone/>
            </a:pPr>
            <a:r>
              <a:rPr lang="en-US" sz="76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Task Wyrm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12800" y="375539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6B0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Вырасти своего дракона. Вырасти себя.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49750"/>
            <a:ext cx="9906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A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Принятие решений, управление рисками, коммуникация с командой и клиентами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Кейс №6 «Высокая конкуренция»: SWOT-анализ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44145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0760" y="162306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Сильные стороны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85342" y="195834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ИИ-дракон и эволюция маскота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Геймификация + адаптивный ИИ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Узнаваемый бренд и визуал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8550" y="144145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60160" y="162306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ru-RU" sz="1700" b="1" dirty="0" smtClean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Слабые </a:t>
            </a:r>
            <a:r>
              <a:rPr lang="en-US" sz="1700" b="1" dirty="0" err="1" smtClean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стороны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4742" y="195834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Маленькая команда и бюджет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базы пользователей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 на стадии MVP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150" y="299847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0760" y="318008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85342" y="351536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Студенты и фрилансеры теряют мотивацию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Партнёрства с вузами и комьюнити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Друзья, челленджи, соцмеханики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8550" y="299847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0160" y="318008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Угрозы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4742" y="351536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Todoist, TickTick, Microsoft To Do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конкурента больше бюджет на маркетинг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Геймификацию можно скопировать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Альтернативные решения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96060"/>
          <a:ext cx="10556241" cy="305308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Вариант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Плюсы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Минусы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A. Догонять конкурента: больше функций и рекламы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Быстрый охват аудитории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 ресурсов, проигрыш по бюджету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9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B. Своя ниша: ИИ-дракон и геймификация для студентов и фрилансеров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Чёткое отличие, невысокие затраты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Узкая аудитория на старте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C. Рост через партнёров: вузы, блогеры, комьюнити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Дешёвое привлечение, доверие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Зависимость от партнёров, темп роста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27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66"/>
              </a:lnSpc>
              <a:buNone/>
            </a:pPr>
            <a:r>
              <a:rPr lang="en-US" sz="2878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Матрица рисков (вероятность × влияние, 1–5)</a:t>
            </a:r>
            <a:endParaRPr lang="en-US" sz="2878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28670"/>
          <a:ext cx="10556240" cy="4413329"/>
        </p:xfrm>
        <a:graphic>
          <a:graphicData uri="http://schemas.openxmlformats.org/drawingml/2006/table">
            <a:tbl>
              <a:tblPr/>
              <a:tblGrid>
                <a:gridCol w="211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722"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Риск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Вер.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Влиян.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Оценка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Стратегия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067"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Конкурент копирует геймификацию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Снижение: развивать эволюцию дракона и ИИ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412"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Реклама конкурента перекрывает нашу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Избегание: не соревноваться бюджетами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491"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Низкое удержание пользователей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Снижение: тесты удержания, адаптивный ИИ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491"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Нехватка ресурсов команды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Принятие: приоритеты по матрице Эйзенхауэра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146"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Зависимость от партнёров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35"/>
                        </a:lnSpc>
                        <a:buNone/>
                      </a:pPr>
                      <a:r>
                        <a:rPr lang="en-US" sz="1239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Передача: несколько каналов привлечения</a:t>
                      </a:r>
                      <a:endParaRPr lang="en-US" sz="123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Решение: вариант B + 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36700"/>
            <a:ext cx="91567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E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Занимаем свою нишу с ИИ-драконом и растём через вузы и комьюнити, а не через рекламную гонку.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9150" y="2546350"/>
            <a:ext cx="3407807" cy="1211580"/>
          </a:xfrm>
          <a:prstGeom prst="roundRect">
            <a:avLst>
              <a:gd name="adj" fmla="val 9958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6160" y="27533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Посильно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6160" y="3088639"/>
            <a:ext cx="308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требует бюджета, равного конкуренту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2057" y="2546350"/>
            <a:ext cx="3407886" cy="1211580"/>
          </a:xfrm>
          <a:prstGeom prst="roundRect">
            <a:avLst>
              <a:gd name="adj" fmla="val 9958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067" y="2753361"/>
            <a:ext cx="308368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сильных сторонах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9067" y="3088639"/>
            <a:ext cx="308368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Опирается на дракона, ИИ и бренд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65043" y="2546350"/>
            <a:ext cx="3407807" cy="1211580"/>
          </a:xfrm>
          <a:prstGeom prst="roundRect">
            <a:avLst>
              <a:gd name="adj" fmla="val 9958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2053" y="27533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Снижает риски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72053" y="3088639"/>
            <a:ext cx="308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Закрывает три риска с оценкой 15–16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Сценарий №1: критический баг, исправить за сутки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45260"/>
          <a:ext cx="5069840" cy="2788920"/>
        </p:xfrm>
        <a:graphic>
          <a:graphicData uri="http://schemas.openxmlformats.org/drawingml/2006/table">
            <a:tbl>
              <a:tblPr/>
              <a:tblGrid>
                <a:gridCol w="253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Роль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Задача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Тимлид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Приоритеты, решения, связь с командой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Разработчик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Причина бага и исправление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Воспроизведение, проверка исправления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Поддержка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Сообщения пользователям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06160" y="1445260"/>
          <a:ext cx="5273040" cy="2788920"/>
        </p:xfrm>
        <a:graphic>
          <a:graphicData uri="http://schemas.openxmlformats.org/drawingml/2006/table">
            <a:tbl>
              <a:tblPr/>
              <a:tblGrid>
                <a:gridCol w="263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Время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План действий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0–1 ч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Воспроизвести баг, оценить критичность, созвон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1–8 ч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Исправление в отдельной ветке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8–16 ч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Тесты, ревью, план отката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16–24 ч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Релиз, уведомление пользователей, разбор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Диалог с клиентом: возражение «Есть Todoist»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35100"/>
            <a:ext cx="6604000" cy="468630"/>
          </a:xfrm>
          <a:prstGeom prst="roundRect">
            <a:avLst>
              <a:gd name="adj" fmla="val 21680"/>
            </a:avLst>
          </a:prstGeom>
          <a:solidFill>
            <a:srgbClr val="1A1F3A"/>
          </a:solidFill>
          <a:ln/>
        </p:spPr>
        <p:txBody>
          <a:bodyPr wrap="square" lIns="148042" tIns="97242" rIns="0" bIns="7184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меня уже есть Todoist. Зачем мне ещё один трекер?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005332"/>
            <a:ext cx="6604000" cy="468630"/>
          </a:xfrm>
          <a:prstGeom prst="roundRect">
            <a:avLst>
              <a:gd name="adj" fmla="val 21680"/>
            </a:avLst>
          </a:prstGeom>
          <a:solidFill>
            <a:srgbClr val="1A1F3A"/>
          </a:solidFill>
          <a:ln/>
        </p:spPr>
        <p:txBody>
          <a:bodyPr wrap="square" lIns="148042" tIns="97242" rIns="0" bIns="7184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Понимаю. Что в нём устраивает, а чего не хватает?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575561"/>
            <a:ext cx="6604000" cy="468630"/>
          </a:xfrm>
          <a:prstGeom prst="roundRect">
            <a:avLst>
              <a:gd name="adj" fmla="val 21680"/>
            </a:avLst>
          </a:prstGeom>
          <a:solidFill>
            <a:srgbClr val="1A1F3A"/>
          </a:solidFill>
          <a:ln/>
        </p:spPr>
        <p:txBody>
          <a:bodyPr wrap="square" lIns="148042" tIns="97242" rIns="0" bIns="7184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Списки быстро надоедают, я их бросаю.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145789"/>
            <a:ext cx="6604000" cy="683260"/>
          </a:xfrm>
          <a:prstGeom prst="roundRect">
            <a:avLst>
              <a:gd name="adj" fmla="val 14870"/>
            </a:avLst>
          </a:prstGeom>
          <a:solidFill>
            <a:srgbClr val="1A1F3A"/>
          </a:solidFill>
          <a:ln/>
        </p:spPr>
        <p:txBody>
          <a:bodyPr wrap="square" lIns="148042" tIns="97242" rIns="0" bIns="7184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этого мы и сделали Task Wyrm: дракон растёт вместе с вашими задачами, а ИИ подстраивает план под ваш ритм.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930650"/>
            <a:ext cx="6604000" cy="468630"/>
          </a:xfrm>
          <a:prstGeom prst="roundRect">
            <a:avLst>
              <a:gd name="adj" fmla="val 21680"/>
            </a:avLst>
          </a:prstGeom>
          <a:solidFill>
            <a:srgbClr val="1A1F3A"/>
          </a:solidFill>
          <a:ln/>
        </p:spPr>
        <p:txBody>
          <a:bodyPr wrap="square" lIns="148042" tIns="97242" rIns="0" bIns="7184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Похоже на детскую игрушку.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500882"/>
            <a:ext cx="6604000" cy="683260"/>
          </a:xfrm>
          <a:prstGeom prst="roundRect">
            <a:avLst>
              <a:gd name="adj" fmla="val 14870"/>
            </a:avLst>
          </a:prstGeom>
          <a:solidFill>
            <a:srgbClr val="1A1F3A"/>
          </a:solidFill>
          <a:ln/>
        </p:spPr>
        <p:txBody>
          <a:bodyPr wrap="square" lIns="148042" tIns="97242" rIns="0" bIns="7184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Дракон не командует, он идёт рядом, а цели у вас взрослые. Попробуйте на одной неделе задач.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26350" y="1441450"/>
            <a:ext cx="3746500" cy="3736340"/>
          </a:xfrm>
          <a:prstGeom prst="roundRect">
            <a:avLst>
              <a:gd name="adj" fmla="val 3229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7960" y="1623061"/>
            <a:ext cx="34847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Приёмы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06004" y="1958339"/>
            <a:ext cx="3379114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Слушать и уточнять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Признать возражение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Говорить о выгоде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Предложить малый шаг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Итоги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543050"/>
            <a:ext cx="3407807" cy="1442720"/>
          </a:xfrm>
          <a:prstGeom prst="roundRect">
            <a:avLst>
              <a:gd name="adj" fmla="val 8363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7500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Решения и риски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6160" y="2085339"/>
            <a:ext cx="30836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SWOT, альтернативы и матрица рисков привели к выбору ниши и партнёрского роста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2057" y="1543050"/>
            <a:ext cx="3407886" cy="1442720"/>
          </a:xfrm>
          <a:prstGeom prst="roundRect">
            <a:avLst>
              <a:gd name="adj" fmla="val 8363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067" y="1750061"/>
            <a:ext cx="308368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99067" y="2085339"/>
            <a:ext cx="308368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Роли, каналы связи и план по часам позволяют выпустить исправление за сутки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5043" y="1543050"/>
            <a:ext cx="3407807" cy="1442720"/>
          </a:xfrm>
          <a:prstGeom prst="roundRect">
            <a:avLst>
              <a:gd name="adj" fmla="val 8363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2053" y="17500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72053" y="2085339"/>
            <a:ext cx="308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Возражения снимаем вопросами и выгодой, а не спором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k Wyrm — Практическое занятие №9">
  <a:themeElements>
    <a:clrScheme name="Task Wyrm — Практическое занятие №9">
      <a:dk1>
        <a:srgbClr val="0E1226"/>
      </a:dk1>
      <a:lt1>
        <a:srgbClr val="F2F5FF"/>
      </a:lt1>
      <a:dk2>
        <a:srgbClr val="25293C"/>
      </a:dk2>
      <a:lt2>
        <a:srgbClr val="B9BCC9"/>
      </a:lt2>
      <a:accent1>
        <a:srgbClr val="9AA3C7"/>
      </a:accent1>
      <a:accent2>
        <a:srgbClr val="00E5FF"/>
      </a:accent2>
      <a:accent3>
        <a:srgbClr val="FF6B00"/>
      </a:accent3>
      <a:accent4>
        <a:srgbClr val="9AA0A6"/>
      </a:accent4>
      <a:accent5>
        <a:srgbClr val="979AA8"/>
      </a:accent5>
      <a:accent6>
        <a:srgbClr val="757888"/>
      </a:accent6>
      <a:hlink>
        <a:srgbClr val="0563C1"/>
      </a:hlink>
      <a:folHlink>
        <a:srgbClr val="954F72"/>
      </a:folHlink>
    </a:clrScheme>
    <a:fontScheme name="Task Wyrm — Практическое занятие №9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504</Words>
  <Application>Microsoft Office PowerPoint</Application>
  <PresentationFormat>Широкоэкранный</PresentationFormat>
  <Paragraphs>121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Exo 2</vt:lpstr>
      <vt:lpstr>Inter</vt:lpstr>
      <vt:lpstr>Task Wyrm — Практическое занятие №9</vt:lpstr>
      <vt:lpstr>Task Wyrm</vt:lpstr>
      <vt:lpstr>Кейс №6 «Высокая конкуренция»: SWOT-анализ</vt:lpstr>
      <vt:lpstr>Альтернативные решения</vt:lpstr>
      <vt:lpstr>Матрица рисков (вероятность × влияние, 1–5)</vt:lpstr>
      <vt:lpstr>Решение: вариант B + C</vt:lpstr>
      <vt:lpstr>Сценарий №1: критический баг, исправить за сутки</vt:lpstr>
      <vt:lpstr>Диалог с клиентом: возражение «Есть Todoist»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Wyrm — Практическое занятие №9</dc:title>
  <dc:subject/>
  <dc:creator/>
  <cp:lastModifiedBy>Кирилл Щепелев</cp:lastModifiedBy>
  <cp:revision>2</cp:revision>
  <dcterms:created xsi:type="dcterms:W3CDTF">2026-10-17T10:53:30Z</dcterms:created>
  <dcterms:modified xsi:type="dcterms:W3CDTF">2026-10-17T10:57:07Z</dcterms:modified>
</cp:coreProperties>
</file>